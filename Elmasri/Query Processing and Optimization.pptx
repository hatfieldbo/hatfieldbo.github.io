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0066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236" y="-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D7C025-C9F6-4BD7-AF3E-08F8BFE8EB7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3F92B6-0083-4A39-86D7-0336CD9EFE4D}">
      <dgm:prSet phldrT="[Text]" custT="1"/>
      <dgm:spPr/>
      <dgm:t>
        <a:bodyPr/>
        <a:lstStyle/>
        <a:p>
          <a:r>
            <a:rPr lang="en-US" sz="2400" dirty="0" smtClean="0"/>
            <a:t>Parsing</a:t>
          </a:r>
          <a:endParaRPr lang="en-US" sz="2400" dirty="0"/>
        </a:p>
      </dgm:t>
    </dgm:pt>
    <dgm:pt modelId="{13C8B12C-782E-49E5-8FCC-21378872E6E4}" type="parTrans" cxnId="{C60A4C94-8954-48E2-9D5A-9C9705AF7791}">
      <dgm:prSet/>
      <dgm:spPr/>
      <dgm:t>
        <a:bodyPr/>
        <a:lstStyle/>
        <a:p>
          <a:endParaRPr lang="en-US"/>
        </a:p>
      </dgm:t>
    </dgm:pt>
    <dgm:pt modelId="{7A554306-35BD-4E6E-B074-15BE2F62C771}" type="sibTrans" cxnId="{C60A4C94-8954-48E2-9D5A-9C9705AF7791}">
      <dgm:prSet/>
      <dgm:spPr/>
      <dgm:t>
        <a:bodyPr/>
        <a:lstStyle/>
        <a:p>
          <a:endParaRPr lang="en-US"/>
        </a:p>
      </dgm:t>
    </dgm:pt>
    <dgm:pt modelId="{ECCD646D-5DB4-490C-8237-E552B923A142}">
      <dgm:prSet phldrT="[Text]" custT="1"/>
      <dgm:spPr/>
      <dgm:t>
        <a:bodyPr/>
        <a:lstStyle/>
        <a:p>
          <a:r>
            <a:rPr lang="en-US" sz="2400" dirty="0" smtClean="0"/>
            <a:t>Execution</a:t>
          </a:r>
          <a:endParaRPr lang="en-US" sz="2400" dirty="0"/>
        </a:p>
      </dgm:t>
    </dgm:pt>
    <dgm:pt modelId="{0F520736-EB46-40EE-A779-1EEB65B8DE6A}" type="parTrans" cxnId="{452B18AF-17AE-4030-8DD6-5DD98B554B4D}">
      <dgm:prSet/>
      <dgm:spPr/>
      <dgm:t>
        <a:bodyPr/>
        <a:lstStyle/>
        <a:p>
          <a:endParaRPr lang="en-US"/>
        </a:p>
      </dgm:t>
    </dgm:pt>
    <dgm:pt modelId="{C5DF6128-5864-417C-8059-6071008D48D2}" type="sibTrans" cxnId="{452B18AF-17AE-4030-8DD6-5DD98B554B4D}">
      <dgm:prSet/>
      <dgm:spPr/>
      <dgm:t>
        <a:bodyPr/>
        <a:lstStyle/>
        <a:p>
          <a:endParaRPr lang="en-US"/>
        </a:p>
      </dgm:t>
    </dgm:pt>
    <dgm:pt modelId="{7E9AB1F1-367C-4CE3-B7CE-E156FC30A1D2}">
      <dgm:prSet phldrT="[Text]" custT="1"/>
      <dgm:spPr/>
      <dgm:t>
        <a:bodyPr/>
        <a:lstStyle/>
        <a:p>
          <a:r>
            <a:rPr lang="en-US" sz="2400" dirty="0" smtClean="0"/>
            <a:t>Fetching</a:t>
          </a:r>
          <a:endParaRPr lang="en-US" sz="2400" dirty="0"/>
        </a:p>
      </dgm:t>
    </dgm:pt>
    <dgm:pt modelId="{F9E5E029-86D0-4832-9898-A4F4AF0F1A9A}" type="parTrans" cxnId="{16DAF493-6D15-4398-9888-1B78613D9C68}">
      <dgm:prSet/>
      <dgm:spPr/>
      <dgm:t>
        <a:bodyPr/>
        <a:lstStyle/>
        <a:p>
          <a:endParaRPr lang="en-US"/>
        </a:p>
      </dgm:t>
    </dgm:pt>
    <dgm:pt modelId="{DE43B14E-3218-4F17-9B74-4D25A6E9BC8B}" type="sibTrans" cxnId="{16DAF493-6D15-4398-9888-1B78613D9C68}">
      <dgm:prSet/>
      <dgm:spPr/>
      <dgm:t>
        <a:bodyPr/>
        <a:lstStyle/>
        <a:p>
          <a:endParaRPr lang="en-US"/>
        </a:p>
      </dgm:t>
    </dgm:pt>
    <dgm:pt modelId="{FBF41971-8264-495E-8F39-78AD7157136B}">
      <dgm:prSet phldrT="[Text]" custT="1"/>
      <dgm:spPr/>
      <dgm:t>
        <a:bodyPr/>
        <a:lstStyle/>
        <a:p>
          <a:r>
            <a:rPr lang="en-US" sz="2400" dirty="0" smtClean="0"/>
            <a:t>DBMS parses the SQL query and chooses the most efficient access/execution plan</a:t>
          </a:r>
          <a:endParaRPr lang="en-US" sz="2400" dirty="0"/>
        </a:p>
      </dgm:t>
    </dgm:pt>
    <dgm:pt modelId="{7588D885-E80C-4981-AD8C-755EA7D5D69F}" type="parTrans" cxnId="{21904A0C-13D9-4B2E-B1DA-26EA504CE0B7}">
      <dgm:prSet/>
      <dgm:spPr/>
      <dgm:t>
        <a:bodyPr/>
        <a:lstStyle/>
        <a:p>
          <a:endParaRPr lang="en-US"/>
        </a:p>
      </dgm:t>
    </dgm:pt>
    <dgm:pt modelId="{BC282186-0799-4BA4-9B31-CFD596524614}" type="sibTrans" cxnId="{21904A0C-13D9-4B2E-B1DA-26EA504CE0B7}">
      <dgm:prSet/>
      <dgm:spPr/>
      <dgm:t>
        <a:bodyPr/>
        <a:lstStyle/>
        <a:p>
          <a:endParaRPr lang="en-US"/>
        </a:p>
      </dgm:t>
    </dgm:pt>
    <dgm:pt modelId="{7FB9EF36-CE79-4F96-97E6-51C09EC0E466}">
      <dgm:prSet phldrT="[Text]" custT="1"/>
      <dgm:spPr/>
      <dgm:t>
        <a:bodyPr/>
        <a:lstStyle/>
        <a:p>
          <a:r>
            <a:rPr lang="en-US" sz="2400" dirty="0" smtClean="0"/>
            <a:t>DBMS executes the SQL query using the chosen execution plan</a:t>
          </a:r>
          <a:endParaRPr lang="en-US" sz="2400" dirty="0"/>
        </a:p>
      </dgm:t>
    </dgm:pt>
    <dgm:pt modelId="{B974FAFD-77E6-4753-A32D-6DD4E50D2355}" type="parTrans" cxnId="{919EB904-F8EE-40EE-B82C-56239B48B284}">
      <dgm:prSet/>
      <dgm:spPr/>
      <dgm:t>
        <a:bodyPr/>
        <a:lstStyle/>
        <a:p>
          <a:endParaRPr lang="en-US"/>
        </a:p>
      </dgm:t>
    </dgm:pt>
    <dgm:pt modelId="{7B98829A-31AD-40E2-B95F-16BEB3C0EB62}" type="sibTrans" cxnId="{919EB904-F8EE-40EE-B82C-56239B48B284}">
      <dgm:prSet/>
      <dgm:spPr/>
      <dgm:t>
        <a:bodyPr/>
        <a:lstStyle/>
        <a:p>
          <a:endParaRPr lang="en-US"/>
        </a:p>
      </dgm:t>
    </dgm:pt>
    <dgm:pt modelId="{FC22F08A-6609-497D-8A6E-552BAD3110DF}">
      <dgm:prSet phldrT="[Text]" custT="1"/>
      <dgm:spPr/>
      <dgm:t>
        <a:bodyPr/>
        <a:lstStyle/>
        <a:p>
          <a:r>
            <a:rPr lang="en-US" sz="2400" dirty="0" smtClean="0"/>
            <a:t>DBMS fetches the data and sends the result set back to the client</a:t>
          </a:r>
          <a:endParaRPr lang="en-US" sz="2400" dirty="0"/>
        </a:p>
      </dgm:t>
    </dgm:pt>
    <dgm:pt modelId="{2368FD79-7155-47B6-8379-51B59380C9D1}" type="parTrans" cxnId="{CE6BCB6B-8180-44BA-B347-1BB0E2E0D0EA}">
      <dgm:prSet/>
      <dgm:spPr/>
      <dgm:t>
        <a:bodyPr/>
        <a:lstStyle/>
        <a:p>
          <a:endParaRPr lang="en-US"/>
        </a:p>
      </dgm:t>
    </dgm:pt>
    <dgm:pt modelId="{AA7DF4A7-047D-4346-B720-2CD8A0ED722B}" type="sibTrans" cxnId="{CE6BCB6B-8180-44BA-B347-1BB0E2E0D0EA}">
      <dgm:prSet/>
      <dgm:spPr/>
      <dgm:t>
        <a:bodyPr/>
        <a:lstStyle/>
        <a:p>
          <a:endParaRPr lang="en-US"/>
        </a:p>
      </dgm:t>
    </dgm:pt>
    <dgm:pt modelId="{396D8E34-E176-4A67-A4C7-97A90607030F}" type="pres">
      <dgm:prSet presAssocID="{A7D7C025-C9F6-4BD7-AF3E-08F8BFE8EB7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367CB5-7EB7-4FDC-93B6-1228A01958BF}" type="pres">
      <dgm:prSet presAssocID="{473F92B6-0083-4A39-86D7-0336CD9EFE4D}" presName="parentLin" presStyleCnt="0"/>
      <dgm:spPr/>
      <dgm:t>
        <a:bodyPr/>
        <a:lstStyle/>
        <a:p>
          <a:endParaRPr lang="en-US"/>
        </a:p>
      </dgm:t>
    </dgm:pt>
    <dgm:pt modelId="{2FBE6E11-6BFF-472C-A4E8-53B8CAD5E086}" type="pres">
      <dgm:prSet presAssocID="{473F92B6-0083-4A39-86D7-0336CD9EFE4D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3374E27-4D32-4A9D-9815-6FC2F0C60881}" type="pres">
      <dgm:prSet presAssocID="{473F92B6-0083-4A39-86D7-0336CD9EFE4D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CB6F0B-5783-406E-ABA6-DBD18E231A09}" type="pres">
      <dgm:prSet presAssocID="{473F92B6-0083-4A39-86D7-0336CD9EFE4D}" presName="negativeSpace" presStyleCnt="0"/>
      <dgm:spPr/>
      <dgm:t>
        <a:bodyPr/>
        <a:lstStyle/>
        <a:p>
          <a:endParaRPr lang="en-US"/>
        </a:p>
      </dgm:t>
    </dgm:pt>
    <dgm:pt modelId="{17A5F051-BD07-4BDA-8EE3-8ACC10CAA91F}" type="pres">
      <dgm:prSet presAssocID="{473F92B6-0083-4A39-86D7-0336CD9EFE4D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870C82-1BC2-4FA4-8222-7963E86B28B8}" type="pres">
      <dgm:prSet presAssocID="{7A554306-35BD-4E6E-B074-15BE2F62C771}" presName="spaceBetweenRectangles" presStyleCnt="0"/>
      <dgm:spPr/>
      <dgm:t>
        <a:bodyPr/>
        <a:lstStyle/>
        <a:p>
          <a:endParaRPr lang="en-US"/>
        </a:p>
      </dgm:t>
    </dgm:pt>
    <dgm:pt modelId="{6CA27546-3616-47A9-A183-0000605E3662}" type="pres">
      <dgm:prSet presAssocID="{ECCD646D-5DB4-490C-8237-E552B923A142}" presName="parentLin" presStyleCnt="0"/>
      <dgm:spPr/>
      <dgm:t>
        <a:bodyPr/>
        <a:lstStyle/>
        <a:p>
          <a:endParaRPr lang="en-US"/>
        </a:p>
      </dgm:t>
    </dgm:pt>
    <dgm:pt modelId="{127E7452-7E5C-450F-925D-0EC531894B48}" type="pres">
      <dgm:prSet presAssocID="{ECCD646D-5DB4-490C-8237-E552B923A142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DC046DBA-2D12-4C55-985D-26BF3B5C73AD}" type="pres">
      <dgm:prSet presAssocID="{ECCD646D-5DB4-490C-8237-E552B923A142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FA17EF-3B46-4CDC-A865-B5C1225AA3AE}" type="pres">
      <dgm:prSet presAssocID="{ECCD646D-5DB4-490C-8237-E552B923A142}" presName="negativeSpace" presStyleCnt="0"/>
      <dgm:spPr/>
      <dgm:t>
        <a:bodyPr/>
        <a:lstStyle/>
        <a:p>
          <a:endParaRPr lang="en-US"/>
        </a:p>
      </dgm:t>
    </dgm:pt>
    <dgm:pt modelId="{C7FE0874-AE6F-42BF-B2F7-D97CAFE054D8}" type="pres">
      <dgm:prSet presAssocID="{ECCD646D-5DB4-490C-8237-E552B923A142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FDD573-034E-426D-84E3-834CF5EA4FB1}" type="pres">
      <dgm:prSet presAssocID="{C5DF6128-5864-417C-8059-6071008D48D2}" presName="spaceBetweenRectangles" presStyleCnt="0"/>
      <dgm:spPr/>
      <dgm:t>
        <a:bodyPr/>
        <a:lstStyle/>
        <a:p>
          <a:endParaRPr lang="en-US"/>
        </a:p>
      </dgm:t>
    </dgm:pt>
    <dgm:pt modelId="{A3718CA4-987F-4981-BFD7-39B08EC6900D}" type="pres">
      <dgm:prSet presAssocID="{7E9AB1F1-367C-4CE3-B7CE-E156FC30A1D2}" presName="parentLin" presStyleCnt="0"/>
      <dgm:spPr/>
      <dgm:t>
        <a:bodyPr/>
        <a:lstStyle/>
        <a:p>
          <a:endParaRPr lang="en-US"/>
        </a:p>
      </dgm:t>
    </dgm:pt>
    <dgm:pt modelId="{63D6AF9B-9CAB-41B0-9F47-53750E48D2AA}" type="pres">
      <dgm:prSet presAssocID="{7E9AB1F1-367C-4CE3-B7CE-E156FC30A1D2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ADE816F7-3974-40A4-A364-EF986504FEDE}" type="pres">
      <dgm:prSet presAssocID="{7E9AB1F1-367C-4CE3-B7CE-E156FC30A1D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8506EB-AEB7-483D-A9CE-F431E588AE16}" type="pres">
      <dgm:prSet presAssocID="{7E9AB1F1-367C-4CE3-B7CE-E156FC30A1D2}" presName="negativeSpace" presStyleCnt="0"/>
      <dgm:spPr/>
      <dgm:t>
        <a:bodyPr/>
        <a:lstStyle/>
        <a:p>
          <a:endParaRPr lang="en-US"/>
        </a:p>
      </dgm:t>
    </dgm:pt>
    <dgm:pt modelId="{A7294EB5-2705-44BE-A47F-2A8D773A4AE6}" type="pres">
      <dgm:prSet presAssocID="{7E9AB1F1-367C-4CE3-B7CE-E156FC30A1D2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60A4C94-8954-48E2-9D5A-9C9705AF7791}" srcId="{A7D7C025-C9F6-4BD7-AF3E-08F8BFE8EB7D}" destId="{473F92B6-0083-4A39-86D7-0336CD9EFE4D}" srcOrd="0" destOrd="0" parTransId="{13C8B12C-782E-49E5-8FCC-21378872E6E4}" sibTransId="{7A554306-35BD-4E6E-B074-15BE2F62C771}"/>
    <dgm:cxn modelId="{21904A0C-13D9-4B2E-B1DA-26EA504CE0B7}" srcId="{473F92B6-0083-4A39-86D7-0336CD9EFE4D}" destId="{FBF41971-8264-495E-8F39-78AD7157136B}" srcOrd="0" destOrd="0" parTransId="{7588D885-E80C-4981-AD8C-755EA7D5D69F}" sibTransId="{BC282186-0799-4BA4-9B31-CFD596524614}"/>
    <dgm:cxn modelId="{D829851D-42E9-46CC-8187-CB59BFB24AC3}" type="presOf" srcId="{ECCD646D-5DB4-490C-8237-E552B923A142}" destId="{127E7452-7E5C-450F-925D-0EC531894B48}" srcOrd="0" destOrd="0" presId="urn:microsoft.com/office/officeart/2005/8/layout/list1"/>
    <dgm:cxn modelId="{452B18AF-17AE-4030-8DD6-5DD98B554B4D}" srcId="{A7D7C025-C9F6-4BD7-AF3E-08F8BFE8EB7D}" destId="{ECCD646D-5DB4-490C-8237-E552B923A142}" srcOrd="1" destOrd="0" parTransId="{0F520736-EB46-40EE-A779-1EEB65B8DE6A}" sibTransId="{C5DF6128-5864-417C-8059-6071008D48D2}"/>
    <dgm:cxn modelId="{795DEE03-C494-4C69-B9E5-E539D9F4180E}" type="presOf" srcId="{ECCD646D-5DB4-490C-8237-E552B923A142}" destId="{DC046DBA-2D12-4C55-985D-26BF3B5C73AD}" srcOrd="1" destOrd="0" presId="urn:microsoft.com/office/officeart/2005/8/layout/list1"/>
    <dgm:cxn modelId="{919EB904-F8EE-40EE-B82C-56239B48B284}" srcId="{ECCD646D-5DB4-490C-8237-E552B923A142}" destId="{7FB9EF36-CE79-4F96-97E6-51C09EC0E466}" srcOrd="0" destOrd="0" parTransId="{B974FAFD-77E6-4753-A32D-6DD4E50D2355}" sibTransId="{7B98829A-31AD-40E2-B95F-16BEB3C0EB62}"/>
    <dgm:cxn modelId="{EA357159-EAF0-4D2E-8BFA-05D2953939FC}" type="presOf" srcId="{473F92B6-0083-4A39-86D7-0336CD9EFE4D}" destId="{2FBE6E11-6BFF-472C-A4E8-53B8CAD5E086}" srcOrd="0" destOrd="0" presId="urn:microsoft.com/office/officeart/2005/8/layout/list1"/>
    <dgm:cxn modelId="{481CCF9C-2252-4C1D-A10B-47BBD0DF5ED4}" type="presOf" srcId="{7E9AB1F1-367C-4CE3-B7CE-E156FC30A1D2}" destId="{63D6AF9B-9CAB-41B0-9F47-53750E48D2AA}" srcOrd="0" destOrd="0" presId="urn:microsoft.com/office/officeart/2005/8/layout/list1"/>
    <dgm:cxn modelId="{16DAF493-6D15-4398-9888-1B78613D9C68}" srcId="{A7D7C025-C9F6-4BD7-AF3E-08F8BFE8EB7D}" destId="{7E9AB1F1-367C-4CE3-B7CE-E156FC30A1D2}" srcOrd="2" destOrd="0" parTransId="{F9E5E029-86D0-4832-9898-A4F4AF0F1A9A}" sibTransId="{DE43B14E-3218-4F17-9B74-4D25A6E9BC8B}"/>
    <dgm:cxn modelId="{42C5C1E4-72CA-4C10-B1D1-DA1DD1A0DF02}" type="presOf" srcId="{7FB9EF36-CE79-4F96-97E6-51C09EC0E466}" destId="{C7FE0874-AE6F-42BF-B2F7-D97CAFE054D8}" srcOrd="0" destOrd="0" presId="urn:microsoft.com/office/officeart/2005/8/layout/list1"/>
    <dgm:cxn modelId="{B89AD286-122E-4198-A925-944F9A7ACE7E}" type="presOf" srcId="{FC22F08A-6609-497D-8A6E-552BAD3110DF}" destId="{A7294EB5-2705-44BE-A47F-2A8D773A4AE6}" srcOrd="0" destOrd="0" presId="urn:microsoft.com/office/officeart/2005/8/layout/list1"/>
    <dgm:cxn modelId="{1DD3DD96-24DF-4C3D-BA42-8274B2DDCB46}" type="presOf" srcId="{A7D7C025-C9F6-4BD7-AF3E-08F8BFE8EB7D}" destId="{396D8E34-E176-4A67-A4C7-97A90607030F}" srcOrd="0" destOrd="0" presId="urn:microsoft.com/office/officeart/2005/8/layout/list1"/>
    <dgm:cxn modelId="{E2CCAB42-5B86-4E12-8719-BBA3AD6A740D}" type="presOf" srcId="{7E9AB1F1-367C-4CE3-B7CE-E156FC30A1D2}" destId="{ADE816F7-3974-40A4-A364-EF986504FEDE}" srcOrd="1" destOrd="0" presId="urn:microsoft.com/office/officeart/2005/8/layout/list1"/>
    <dgm:cxn modelId="{CE6BCB6B-8180-44BA-B347-1BB0E2E0D0EA}" srcId="{7E9AB1F1-367C-4CE3-B7CE-E156FC30A1D2}" destId="{FC22F08A-6609-497D-8A6E-552BAD3110DF}" srcOrd="0" destOrd="0" parTransId="{2368FD79-7155-47B6-8379-51B59380C9D1}" sibTransId="{AA7DF4A7-047D-4346-B720-2CD8A0ED722B}"/>
    <dgm:cxn modelId="{F32471FB-3E9D-487C-84ED-031AC5291C87}" type="presOf" srcId="{FBF41971-8264-495E-8F39-78AD7157136B}" destId="{17A5F051-BD07-4BDA-8EE3-8ACC10CAA91F}" srcOrd="0" destOrd="0" presId="urn:microsoft.com/office/officeart/2005/8/layout/list1"/>
    <dgm:cxn modelId="{D9A2D962-FBC7-4526-ABBA-68EB4BEB776B}" type="presOf" srcId="{473F92B6-0083-4A39-86D7-0336CD9EFE4D}" destId="{03374E27-4D32-4A9D-9815-6FC2F0C60881}" srcOrd="1" destOrd="0" presId="urn:microsoft.com/office/officeart/2005/8/layout/list1"/>
    <dgm:cxn modelId="{225C6B44-9488-4F56-96F3-72551AAFCF0E}" type="presParOf" srcId="{396D8E34-E176-4A67-A4C7-97A90607030F}" destId="{5E367CB5-7EB7-4FDC-93B6-1228A01958BF}" srcOrd="0" destOrd="0" presId="urn:microsoft.com/office/officeart/2005/8/layout/list1"/>
    <dgm:cxn modelId="{8D69E36A-2CC7-4C00-A02C-56110C476243}" type="presParOf" srcId="{5E367CB5-7EB7-4FDC-93B6-1228A01958BF}" destId="{2FBE6E11-6BFF-472C-A4E8-53B8CAD5E086}" srcOrd="0" destOrd="0" presId="urn:microsoft.com/office/officeart/2005/8/layout/list1"/>
    <dgm:cxn modelId="{C3EEE4F1-BCFE-4E10-AFD6-F3BF56F9C1FA}" type="presParOf" srcId="{5E367CB5-7EB7-4FDC-93B6-1228A01958BF}" destId="{03374E27-4D32-4A9D-9815-6FC2F0C60881}" srcOrd="1" destOrd="0" presId="urn:microsoft.com/office/officeart/2005/8/layout/list1"/>
    <dgm:cxn modelId="{A29F347E-8999-4DB4-AFD0-A4DAE78BF897}" type="presParOf" srcId="{396D8E34-E176-4A67-A4C7-97A90607030F}" destId="{5CCB6F0B-5783-406E-ABA6-DBD18E231A09}" srcOrd="1" destOrd="0" presId="urn:microsoft.com/office/officeart/2005/8/layout/list1"/>
    <dgm:cxn modelId="{0DBD39E0-1346-45D9-AF1C-00ACD10CB33A}" type="presParOf" srcId="{396D8E34-E176-4A67-A4C7-97A90607030F}" destId="{17A5F051-BD07-4BDA-8EE3-8ACC10CAA91F}" srcOrd="2" destOrd="0" presId="urn:microsoft.com/office/officeart/2005/8/layout/list1"/>
    <dgm:cxn modelId="{22419074-F2D7-4802-8FF8-F34E6F5F8C6D}" type="presParOf" srcId="{396D8E34-E176-4A67-A4C7-97A90607030F}" destId="{BB870C82-1BC2-4FA4-8222-7963E86B28B8}" srcOrd="3" destOrd="0" presId="urn:microsoft.com/office/officeart/2005/8/layout/list1"/>
    <dgm:cxn modelId="{29DF1A9E-51BE-466B-9FD8-A6299C1835C7}" type="presParOf" srcId="{396D8E34-E176-4A67-A4C7-97A90607030F}" destId="{6CA27546-3616-47A9-A183-0000605E3662}" srcOrd="4" destOrd="0" presId="urn:microsoft.com/office/officeart/2005/8/layout/list1"/>
    <dgm:cxn modelId="{5597225E-FAEA-4014-B04F-2E2AD79809AE}" type="presParOf" srcId="{6CA27546-3616-47A9-A183-0000605E3662}" destId="{127E7452-7E5C-450F-925D-0EC531894B48}" srcOrd="0" destOrd="0" presId="urn:microsoft.com/office/officeart/2005/8/layout/list1"/>
    <dgm:cxn modelId="{1C9B156F-2319-49CE-8CB4-9DBCF234F2EE}" type="presParOf" srcId="{6CA27546-3616-47A9-A183-0000605E3662}" destId="{DC046DBA-2D12-4C55-985D-26BF3B5C73AD}" srcOrd="1" destOrd="0" presId="urn:microsoft.com/office/officeart/2005/8/layout/list1"/>
    <dgm:cxn modelId="{CB3744F8-11FE-4921-AD2C-7F9459B62DBE}" type="presParOf" srcId="{396D8E34-E176-4A67-A4C7-97A90607030F}" destId="{41FA17EF-3B46-4CDC-A865-B5C1225AA3AE}" srcOrd="5" destOrd="0" presId="urn:microsoft.com/office/officeart/2005/8/layout/list1"/>
    <dgm:cxn modelId="{99133A61-534C-4DED-8103-1DDE7035AFC3}" type="presParOf" srcId="{396D8E34-E176-4A67-A4C7-97A90607030F}" destId="{C7FE0874-AE6F-42BF-B2F7-D97CAFE054D8}" srcOrd="6" destOrd="0" presId="urn:microsoft.com/office/officeart/2005/8/layout/list1"/>
    <dgm:cxn modelId="{1976858D-71C0-46E8-A258-C264094685BB}" type="presParOf" srcId="{396D8E34-E176-4A67-A4C7-97A90607030F}" destId="{AAFDD573-034E-426D-84E3-834CF5EA4FB1}" srcOrd="7" destOrd="0" presId="urn:microsoft.com/office/officeart/2005/8/layout/list1"/>
    <dgm:cxn modelId="{C8EB1A28-64D4-4917-8524-847F404089B7}" type="presParOf" srcId="{396D8E34-E176-4A67-A4C7-97A90607030F}" destId="{A3718CA4-987F-4981-BFD7-39B08EC6900D}" srcOrd="8" destOrd="0" presId="urn:microsoft.com/office/officeart/2005/8/layout/list1"/>
    <dgm:cxn modelId="{0A5CAA36-DD0B-47B9-A169-C5AEFC1FF0D5}" type="presParOf" srcId="{A3718CA4-987F-4981-BFD7-39B08EC6900D}" destId="{63D6AF9B-9CAB-41B0-9F47-53750E48D2AA}" srcOrd="0" destOrd="0" presId="urn:microsoft.com/office/officeart/2005/8/layout/list1"/>
    <dgm:cxn modelId="{9C496605-C87F-48E9-B4F6-EE42E713E16B}" type="presParOf" srcId="{A3718CA4-987F-4981-BFD7-39B08EC6900D}" destId="{ADE816F7-3974-40A4-A364-EF986504FEDE}" srcOrd="1" destOrd="0" presId="urn:microsoft.com/office/officeart/2005/8/layout/list1"/>
    <dgm:cxn modelId="{241C1A4E-1A62-48ED-A5C4-B19416915CD8}" type="presParOf" srcId="{396D8E34-E176-4A67-A4C7-97A90607030F}" destId="{EA8506EB-AEB7-483D-A9CE-F431E588AE16}" srcOrd="9" destOrd="0" presId="urn:microsoft.com/office/officeart/2005/8/layout/list1"/>
    <dgm:cxn modelId="{76596D89-5725-4D5A-9549-6139A8B30B1B}" type="presParOf" srcId="{396D8E34-E176-4A67-A4C7-97A90607030F}" destId="{A7294EB5-2705-44BE-A47F-2A8D773A4AE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5F051-BD07-4BDA-8EE3-8ACC10CAA91F}">
      <dsp:nvSpPr>
        <dsp:cNvPr id="0" name=""/>
        <dsp:cNvSpPr/>
      </dsp:nvSpPr>
      <dsp:spPr>
        <a:xfrm>
          <a:off x="0" y="265552"/>
          <a:ext cx="8001000" cy="1151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54076" rIns="6209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DBMS parses the SQL query and chooses the most efficient access/execution plan</a:t>
          </a:r>
          <a:endParaRPr lang="en-US" sz="2400" kern="1200" dirty="0"/>
        </a:p>
      </dsp:txBody>
      <dsp:txXfrm>
        <a:off x="0" y="265552"/>
        <a:ext cx="8001000" cy="1151325"/>
      </dsp:txXfrm>
    </dsp:sp>
    <dsp:sp modelId="{03374E27-4D32-4A9D-9815-6FC2F0C60881}">
      <dsp:nvSpPr>
        <dsp:cNvPr id="0" name=""/>
        <dsp:cNvSpPr/>
      </dsp:nvSpPr>
      <dsp:spPr>
        <a:xfrm>
          <a:off x="400050" y="14632"/>
          <a:ext cx="56007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Parsing</a:t>
          </a:r>
          <a:endParaRPr lang="en-US" sz="2400" kern="1200" dirty="0"/>
        </a:p>
      </dsp:txBody>
      <dsp:txXfrm>
        <a:off x="424548" y="39130"/>
        <a:ext cx="5551704" cy="452844"/>
      </dsp:txXfrm>
    </dsp:sp>
    <dsp:sp modelId="{C7FE0874-AE6F-42BF-B2F7-D97CAFE054D8}">
      <dsp:nvSpPr>
        <dsp:cNvPr id="0" name=""/>
        <dsp:cNvSpPr/>
      </dsp:nvSpPr>
      <dsp:spPr>
        <a:xfrm>
          <a:off x="0" y="1759597"/>
          <a:ext cx="8001000" cy="1151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54076" rIns="6209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DBMS executes the SQL query using the chosen execution plan</a:t>
          </a:r>
          <a:endParaRPr lang="en-US" sz="2400" kern="1200" dirty="0"/>
        </a:p>
      </dsp:txBody>
      <dsp:txXfrm>
        <a:off x="0" y="1759597"/>
        <a:ext cx="8001000" cy="1151325"/>
      </dsp:txXfrm>
    </dsp:sp>
    <dsp:sp modelId="{DC046DBA-2D12-4C55-985D-26BF3B5C73AD}">
      <dsp:nvSpPr>
        <dsp:cNvPr id="0" name=""/>
        <dsp:cNvSpPr/>
      </dsp:nvSpPr>
      <dsp:spPr>
        <a:xfrm>
          <a:off x="400050" y="1508677"/>
          <a:ext cx="56007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Execution</a:t>
          </a:r>
          <a:endParaRPr lang="en-US" sz="2400" kern="1200" dirty="0"/>
        </a:p>
      </dsp:txBody>
      <dsp:txXfrm>
        <a:off x="424548" y="1533175"/>
        <a:ext cx="5551704" cy="452844"/>
      </dsp:txXfrm>
    </dsp:sp>
    <dsp:sp modelId="{A7294EB5-2705-44BE-A47F-2A8D773A4AE6}">
      <dsp:nvSpPr>
        <dsp:cNvPr id="0" name=""/>
        <dsp:cNvSpPr/>
      </dsp:nvSpPr>
      <dsp:spPr>
        <a:xfrm>
          <a:off x="0" y="3253642"/>
          <a:ext cx="8001000" cy="1151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54076" rIns="6209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DBMS fetches the data and sends the result set back to the client</a:t>
          </a:r>
          <a:endParaRPr lang="en-US" sz="2400" kern="1200" dirty="0"/>
        </a:p>
      </dsp:txBody>
      <dsp:txXfrm>
        <a:off x="0" y="3253642"/>
        <a:ext cx="8001000" cy="1151325"/>
      </dsp:txXfrm>
    </dsp:sp>
    <dsp:sp modelId="{ADE816F7-3974-40A4-A364-EF986504FEDE}">
      <dsp:nvSpPr>
        <dsp:cNvPr id="0" name=""/>
        <dsp:cNvSpPr/>
      </dsp:nvSpPr>
      <dsp:spPr>
        <a:xfrm>
          <a:off x="400050" y="3002722"/>
          <a:ext cx="56007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Fetching</a:t>
          </a:r>
          <a:endParaRPr lang="en-US" sz="2400" kern="1200" dirty="0"/>
        </a:p>
      </dsp:txBody>
      <dsp:txXfrm>
        <a:off x="424548" y="3027220"/>
        <a:ext cx="555170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272C8-8DD2-4563-93CC-3A8FD4FA2084}" type="datetimeFigureOut">
              <a:rPr lang="en-US" smtClean="0"/>
              <a:t>4/24/2017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3C063-8274-4B60-A99D-50E57F77F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2483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29135F46-3185-49B4-9ABA-DE51AB86860C}" type="datetimeFigureOut">
              <a:rPr lang="en-US"/>
              <a:pPr>
                <a:defRPr/>
              </a:pPr>
              <a:t>4/24/2017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D62F480-CE3C-4174-9104-00574C282E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143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77788"/>
            <a:ext cx="6629400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7"/>
          <p:cNvSpPr txBox="1">
            <a:spLocks noChangeArrowheads="1"/>
          </p:cNvSpPr>
          <p:nvPr userDrawn="1"/>
        </p:nvSpPr>
        <p:spPr bwMode="auto">
          <a:xfrm>
            <a:off x="1257300" y="117475"/>
            <a:ext cx="6629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algn="ctr">
              <a:defRPr/>
            </a:pPr>
            <a:r>
              <a:rPr lang="en-US" altLang="en-US" sz="2000" b="1" smtClean="0">
                <a:solidFill>
                  <a:schemeClr val="bg1"/>
                </a:solidFill>
                <a:cs typeface="Arial" charset="0"/>
              </a:rPr>
              <a:t>Database Systems</a:t>
            </a:r>
          </a:p>
          <a:p>
            <a:pPr algn="ctr">
              <a:defRPr/>
            </a:pPr>
            <a:r>
              <a:rPr lang="en-US" altLang="en-US" sz="2000" b="1" smtClean="0">
                <a:solidFill>
                  <a:schemeClr val="bg1"/>
                </a:solidFill>
                <a:cs typeface="Arial" charset="0"/>
              </a:rPr>
              <a:t>Design, Implementation, and Management</a:t>
            </a:r>
          </a:p>
        </p:txBody>
      </p:sp>
      <p:sp>
        <p:nvSpPr>
          <p:cNvPr id="12" name="TextBox 18"/>
          <p:cNvSpPr txBox="1">
            <a:spLocks noChangeArrowheads="1"/>
          </p:cNvSpPr>
          <p:nvPr userDrawn="1"/>
        </p:nvSpPr>
        <p:spPr bwMode="auto">
          <a:xfrm>
            <a:off x="5638800" y="3505200"/>
            <a:ext cx="2195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algn="r">
              <a:defRPr/>
            </a:pPr>
            <a:r>
              <a:rPr lang="en-US" altLang="en-US" b="1" smtClean="0">
                <a:solidFill>
                  <a:schemeClr val="bg1"/>
                </a:solidFill>
                <a:cs typeface="Arial" charset="0"/>
              </a:rPr>
              <a:t>Coronel | Morris</a:t>
            </a:r>
          </a:p>
        </p:txBody>
      </p:sp>
      <p:sp>
        <p:nvSpPr>
          <p:cNvPr id="13" name="TextBox 24"/>
          <p:cNvSpPr txBox="1">
            <a:spLocks noChangeArrowheads="1"/>
          </p:cNvSpPr>
          <p:nvPr userDrawn="1"/>
        </p:nvSpPr>
        <p:spPr bwMode="auto">
          <a:xfrm>
            <a:off x="76200" y="77788"/>
            <a:ext cx="76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r>
              <a:rPr lang="en-US" altLang="en-US" sz="16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11e</a:t>
            </a:r>
          </a:p>
        </p:txBody>
      </p:sp>
      <p:sp>
        <p:nvSpPr>
          <p:cNvPr id="14" name="TextBox 25"/>
          <p:cNvSpPr txBox="1">
            <a:spLocks noChangeArrowheads="1"/>
          </p:cNvSpPr>
          <p:nvPr userDrawn="1"/>
        </p:nvSpPr>
        <p:spPr bwMode="auto">
          <a:xfrm>
            <a:off x="533400" y="6627813"/>
            <a:ext cx="80772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algn="ctr">
              <a:defRPr/>
            </a:pPr>
            <a:r>
              <a:rPr lang="en-US" altLang="en-US" sz="900" smtClean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©2015 Cengage Learning. All Rights Reserved. May not be scanned, copied or duplicated, or posted to a publicly accessible website, in whole or in part.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64008" indent="0" algn="ctr">
              <a:buNone/>
              <a:defRPr sz="4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75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506C6-A900-491B-8DF7-2192887094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31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E93A9-5624-4F19-9AD2-D489BB33D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57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779A0-6501-460A-AE77-EFED3C7C5B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98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B33123-E4A2-42F8-88AF-BFC81CD43CD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69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038" y="1588"/>
            <a:ext cx="762000" cy="366712"/>
          </a:xfrm>
        </p:spPr>
        <p:txBody>
          <a:bodyPr/>
          <a:lstStyle>
            <a:lvl1pPr>
              <a:defRPr/>
            </a:lvl1pPr>
          </a:lstStyle>
          <a:p>
            <a:fld id="{7EC30566-AB67-4C53-BF8D-26F7E43F9C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207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06FA46-BEF7-4B29-96E8-9F0BDB070F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9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7C7A68-BE1A-4D39-A620-2A424F71D8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49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5FE1D-0376-40CE-B5E5-96D726D895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87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AC54F7-4926-47DF-A587-C14DC09F33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7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342C7-10C4-4765-A816-75BF3FCA35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18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9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86800" y="6553200"/>
            <a:ext cx="457200" cy="3048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B0606D5-30B5-4BC7-A068-C1AD1E4102D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0" y="7938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3" name="TextBox 8"/>
          <p:cNvSpPr txBox="1">
            <a:spLocks noChangeArrowheads="1"/>
          </p:cNvSpPr>
          <p:nvPr userDrawn="1"/>
        </p:nvSpPr>
        <p:spPr bwMode="auto">
          <a:xfrm>
            <a:off x="533400" y="6627813"/>
            <a:ext cx="80772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algn="ctr">
              <a:defRPr/>
            </a:pPr>
            <a:r>
              <a:rPr lang="en-US" altLang="en-US" sz="900" smtClean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©2015 Cengage Learning. All Rights Reserved. May not be scanned, copied or duplicated, or posted to a publicly accessible website, in whole or in part.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57225" indent="-246063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22338" indent="-219075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79513" indent="-200025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389063" indent="-182563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Learning Objectives</a:t>
            </a:r>
            <a:endParaRPr lang="en-US" altLang="en-US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Basic database performance-tuning concepts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How a DBMS processes SQL queries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About the importance of indexes in query processing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About the types of decisions the query optimizer has to make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Some common practices used to write efficient SQL code</a:t>
            </a:r>
          </a:p>
          <a:p>
            <a:pPr lvl="1"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How to formulate queries and tune the DBMS for optimal performance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0E836D-DB51-484C-9A2D-0529F5C92042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ea typeface="ＭＳ Ｐゴシック" panose="020B0600070205080204" pitchFamily="34" charset="-128"/>
              </a:rPr>
              <a:t>Database Performance-Tuning Concepts</a:t>
            </a:r>
            <a:endParaRPr lang="en-US" altLang="en-US" sz="3600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Goal of database performance is to execute queries as fast as possible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Database performance tuning</a:t>
            </a:r>
            <a:r>
              <a:rPr lang="en-US" altLang="en-US" smtClean="0">
                <a:ea typeface="ＭＳ Ｐゴシック" panose="020B0600070205080204" pitchFamily="34" charset="-128"/>
              </a:rPr>
              <a:t>:</a:t>
            </a:r>
            <a:r>
              <a:rPr lang="en-US" altLang="en-US" b="1" smtClean="0">
                <a:ea typeface="ＭＳ Ｐゴシック" panose="020B0600070205080204" pitchFamily="34" charset="-128"/>
              </a:rPr>
              <a:t> </a:t>
            </a:r>
            <a:r>
              <a:rPr lang="en-US" altLang="en-US" smtClean="0">
                <a:ea typeface="ＭＳ Ｐゴシック" panose="020B0600070205080204" pitchFamily="34" charset="-128"/>
              </a:rPr>
              <a:t>Set of activities and procedures that reduce response time of database system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Fine-tuning the performance of a system requires that all factors must operate at optimum level with minimal bottlenecks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F8CF9B-59A3-4F2B-AE6C-A8404D1DD41B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smtClean="0">
                <a:ea typeface="ＭＳ Ｐゴシック" panose="020B0600070205080204" pitchFamily="34" charset="-128"/>
              </a:rPr>
              <a:t>General Guidelines for Better System Performance</a:t>
            </a:r>
            <a:endParaRPr lang="en-US" altLang="en-US" sz="2800" dirty="0" smtClean="0"/>
          </a:p>
        </p:txBody>
      </p:sp>
      <p:pic>
        <p:nvPicPr>
          <p:cNvPr id="1638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15340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668989-6B30-40C9-B03B-063FBF5BC22A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Performance Tuning: Client and Server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Client side</a:t>
            </a:r>
          </a:p>
          <a:p>
            <a:pPr lvl="1"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SQL performance tuning</a:t>
            </a:r>
            <a:r>
              <a:rPr lang="en-US" altLang="en-US" smtClean="0">
                <a:ea typeface="ＭＳ Ｐゴシック" panose="020B0600070205080204" pitchFamily="34" charset="-128"/>
              </a:rPr>
              <a:t>: Generates SQL query that returns correct answer in least amount of time</a:t>
            </a:r>
          </a:p>
          <a:p>
            <a:pPr lvl="2" eaLnBrk="1" hangingPunct="1"/>
            <a:r>
              <a:rPr lang="en-US" altLang="en-US" smtClean="0">
                <a:ea typeface="ＭＳ Ｐゴシック" panose="020B0600070205080204" pitchFamily="34" charset="-128"/>
              </a:rPr>
              <a:t>Using minimum amount of resources at server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Server side</a:t>
            </a:r>
          </a:p>
          <a:p>
            <a:pPr lvl="1"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DBMS performance tuning: </a:t>
            </a:r>
            <a:r>
              <a:rPr lang="en-US" altLang="en-US" smtClean="0">
                <a:ea typeface="ＭＳ Ｐゴシック" panose="020B0600070205080204" pitchFamily="34" charset="-128"/>
              </a:rPr>
              <a:t>DBMS environment configured to respond to clients’ requests as fast as possible</a:t>
            </a:r>
          </a:p>
          <a:p>
            <a:pPr lvl="2" eaLnBrk="1" hangingPunct="1"/>
            <a:r>
              <a:rPr lang="en-US" altLang="en-US" smtClean="0">
                <a:ea typeface="ＭＳ Ｐゴシック" panose="020B0600070205080204" pitchFamily="34" charset="-128"/>
              </a:rPr>
              <a:t>Optimum use of existing resources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346AD7-E595-4039-A7D6-FB4C6922144F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Architecture</a:t>
            </a:r>
            <a:endParaRPr lang="en-US" alt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All data in a database are stored in </a:t>
            </a:r>
            <a:r>
              <a:rPr lang="en-US" altLang="en-US" b="1" smtClean="0">
                <a:ea typeface="ＭＳ Ｐゴシック" panose="020B0600070205080204" pitchFamily="34" charset="-128"/>
              </a:rPr>
              <a:t>data files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 files automatically expand in predefined increments known as </a:t>
            </a:r>
            <a:r>
              <a:rPr lang="en-US" altLang="en-US" b="1" smtClean="0">
                <a:ea typeface="ＭＳ Ｐゴシック" panose="020B0600070205080204" pitchFamily="34" charset="-128"/>
              </a:rPr>
              <a:t>extends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 files are grouped in file groups or table spaces</a:t>
            </a:r>
          </a:p>
          <a:p>
            <a:pPr lvl="1"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Table space </a:t>
            </a:r>
            <a:r>
              <a:rPr lang="en-US" altLang="en-US" smtClean="0">
                <a:ea typeface="ＭＳ Ｐゴシック" panose="020B0600070205080204" pitchFamily="34" charset="-128"/>
              </a:rPr>
              <a:t>or</a:t>
            </a:r>
            <a:r>
              <a:rPr lang="en-US" altLang="en-US" b="1" smtClean="0">
                <a:ea typeface="ＭＳ Ｐゴシック" panose="020B0600070205080204" pitchFamily="34" charset="-128"/>
              </a:rPr>
              <a:t> file group</a:t>
            </a:r>
            <a:r>
              <a:rPr lang="en-US" altLang="en-US" smtClean="0">
                <a:ea typeface="ＭＳ Ｐゴシック" panose="020B0600070205080204" pitchFamily="34" charset="-128"/>
              </a:rPr>
              <a:t>: Logical grouping of several data files that store data with similar characteristics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Data cache </a:t>
            </a:r>
            <a:r>
              <a:rPr lang="en-US" altLang="en-US" smtClean="0">
                <a:ea typeface="ＭＳ Ｐゴシック" panose="020B0600070205080204" pitchFamily="34" charset="-128"/>
              </a:rPr>
              <a:t>or</a:t>
            </a:r>
            <a:r>
              <a:rPr lang="en-US" altLang="en-US" b="1" smtClean="0">
                <a:ea typeface="ＭＳ Ｐゴシック" panose="020B0600070205080204" pitchFamily="34" charset="-128"/>
              </a:rPr>
              <a:t> buffer cache</a:t>
            </a:r>
            <a:r>
              <a:rPr lang="en-US" altLang="en-US" smtClean="0">
                <a:ea typeface="ＭＳ Ｐゴシック" panose="020B0600070205080204" pitchFamily="34" charset="-128"/>
              </a:rPr>
              <a:t>: Shared, reserved memory area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Stores most recently accessed data blocks in RAM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EF740B-6620-4C30-88FD-BC6081D29A42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Architecture</a:t>
            </a:r>
            <a:endParaRPr lang="en-US" altLang="en-US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SQL cache </a:t>
            </a:r>
            <a:r>
              <a:rPr lang="en-US" altLang="en-US" smtClean="0">
                <a:ea typeface="ＭＳ Ｐゴシック" panose="020B0600070205080204" pitchFamily="34" charset="-128"/>
              </a:rPr>
              <a:t>or</a:t>
            </a:r>
            <a:r>
              <a:rPr lang="en-US" altLang="en-US" b="1" smtClean="0">
                <a:ea typeface="ＭＳ Ｐゴシック" panose="020B0600070205080204" pitchFamily="34" charset="-128"/>
              </a:rPr>
              <a:t> procedure cache</a:t>
            </a:r>
            <a:r>
              <a:rPr lang="en-US" altLang="en-US" smtClean="0">
                <a:ea typeface="ＭＳ Ｐゴシック" panose="020B0600070205080204" pitchFamily="34" charset="-128"/>
              </a:rPr>
              <a:t>: Stores most recently executed SQL statements or PL/SQL procedures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retrieves data from permanent storage and places them in RAM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Input/output request</a:t>
            </a:r>
            <a:r>
              <a:rPr lang="en-US" altLang="en-US" smtClean="0">
                <a:ea typeface="ＭＳ Ｐゴシック" panose="020B0600070205080204" pitchFamily="34" charset="-128"/>
              </a:rPr>
              <a:t>: Low-level data access operation that reads or writes data to and from computer devices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 cache is faster than working with data files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Majority of performance-tuning activities focus on minimizing I/O operations</a:t>
            </a:r>
          </a:p>
          <a:p>
            <a:pPr eaLnBrk="1" hangingPunct="1"/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3B967EC-41D3-49BF-9E3F-96735D74C945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Basic DBMS Architecture</a:t>
            </a:r>
            <a:endParaRPr lang="en-US" altLang="en-US" dirty="0" smtClean="0"/>
          </a:p>
        </p:txBody>
      </p:sp>
      <p:pic>
        <p:nvPicPr>
          <p:cNvPr id="2048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77724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49F78B2-E06D-40EE-9C8A-648008006A0D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Database Query Optimization Modes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Algorithms proposed for query optimization are based on: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Selection of the optimum order to achieve the fastest execution time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Selection of sites to be accessed to minimize communication costs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Evaluated on the basis of: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Operation mode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Timing of its optimization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E5A40B-3320-452A-B512-1227F24A4864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Classification of Operation Modes</a:t>
            </a:r>
            <a:endParaRPr lang="en-US" altLang="en-US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Automatic query optimization</a:t>
            </a:r>
            <a:r>
              <a:rPr lang="en-US" altLang="en-US" smtClean="0">
                <a:ea typeface="ＭＳ Ｐゴシック" panose="020B0600070205080204" pitchFamily="34" charset="-128"/>
              </a:rPr>
              <a:t>: DBMS finds the most cost-effective access path without user intervention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Manual query optimization</a:t>
            </a:r>
            <a:r>
              <a:rPr lang="en-US" altLang="en-US" smtClean="0">
                <a:ea typeface="ＭＳ Ｐゴシック" panose="020B0600070205080204" pitchFamily="34" charset="-128"/>
              </a:rPr>
              <a:t>: Requires that the optimization be selected and scheduled by the end user or programmer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2DDE98-0FEC-4F79-9F18-159BB7F29D5C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smtClean="0">
                <a:ea typeface="ＭＳ Ｐゴシック" panose="020B0600070205080204" pitchFamily="34" charset="-128"/>
              </a:rPr>
              <a:t>Classification Based on Timing of Optimization </a:t>
            </a:r>
            <a:endParaRPr lang="en-US" altLang="en-US" sz="3600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Static query optimization</a:t>
            </a:r>
            <a:r>
              <a:rPr lang="en-US" altLang="en-US" smtClean="0">
                <a:ea typeface="ＭＳ Ｐゴシック" panose="020B0600070205080204" pitchFamily="34" charset="-128"/>
              </a:rPr>
              <a:t>: best optimization strategy is selected when the query is compiled by the DBMS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Takes place at compilation time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Dynamic query optimization</a:t>
            </a:r>
            <a:r>
              <a:rPr lang="en-US" altLang="en-US" smtClean="0">
                <a:ea typeface="ＭＳ Ｐゴシック" panose="020B0600070205080204" pitchFamily="34" charset="-128"/>
              </a:rPr>
              <a:t>: Access strategy is dynamically determined by the DBMS at run time, using the most up-to-date information about the database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Takes place at execution time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4CD8293-0F20-42E0-84F9-1C5BC92C8A0C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>
                <a:ea typeface="ＭＳ Ｐゴシック" panose="020B0600070205080204" pitchFamily="34" charset="-128"/>
              </a:rPr>
              <a:t>Classification Based on Type of Information Used to Optimize the Query</a:t>
            </a:r>
            <a:endParaRPr lang="en-US" altLang="en-US" sz="3600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>
                <a:ea typeface="ＭＳ Ｐゴシック" panose="020B0600070205080204" pitchFamily="34" charset="-128"/>
              </a:rPr>
              <a:t>Statistically based query optimization algorithm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 Statistics are used by the DBMS to determine the best access strategy</a:t>
            </a:r>
          </a:p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Statistical information is generated by DBMS through:</a:t>
            </a:r>
          </a:p>
          <a:p>
            <a:pPr lvl="1" eaLnBrk="1" hangingPunct="1"/>
            <a:r>
              <a:rPr lang="en-US" altLang="en-US" b="1" dirty="0" smtClean="0">
                <a:ea typeface="ＭＳ Ｐゴシック" panose="020B0600070205080204" pitchFamily="34" charset="-128"/>
              </a:rPr>
              <a:t>Dynamic statistical generation mode</a:t>
            </a:r>
          </a:p>
          <a:p>
            <a:pPr lvl="1" eaLnBrk="1" hangingPunct="1"/>
            <a:r>
              <a:rPr lang="en-US" altLang="en-US" b="1" dirty="0" smtClean="0">
                <a:ea typeface="ＭＳ Ｐゴシック" panose="020B0600070205080204" pitchFamily="34" charset="-128"/>
              </a:rPr>
              <a:t>Manual statistical generation mode</a:t>
            </a:r>
          </a:p>
          <a:p>
            <a:pPr eaLnBrk="1" hangingPunct="1"/>
            <a:r>
              <a:rPr lang="en-US" altLang="en-US" b="1" dirty="0" smtClean="0">
                <a:ea typeface="ＭＳ Ｐゴシック" panose="020B0600070205080204" pitchFamily="34" charset="-128"/>
              </a:rPr>
              <a:t>Rule-based query optimization algorithm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 based on a set of user-defined rules to determine the best query access strategy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620B2BE-04F3-4745-A2BA-EAFF6B45F076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Table 11.2 - Sample Database Statistics Measurements</a:t>
            </a:r>
            <a:endParaRPr lang="en-US" altLang="en-US" smtClean="0"/>
          </a:p>
        </p:txBody>
      </p:sp>
      <p:pic>
        <p:nvPicPr>
          <p:cNvPr id="2560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462213"/>
            <a:ext cx="8991600" cy="241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F0E9D99-750B-41DF-856B-FF2C798AA8EE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Query Processing</a:t>
            </a:r>
            <a:endParaRPr lang="en-US" altLang="en-US" smtClean="0"/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1676400"/>
          <a:ext cx="80010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CCFF8EE-1B18-4728-B641-C5354EB06924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SQL Parsing Phase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defRPr/>
            </a:pPr>
            <a:r>
              <a:rPr lang="en-US" altLang="en-US" dirty="0">
                <a:ea typeface="ＭＳ Ｐゴシック" pitchFamily="34" charset="-128"/>
              </a:rPr>
              <a:t>Query is broken down into smaller units </a:t>
            </a:r>
          </a:p>
          <a:p>
            <a:pPr marL="365760" indent="-256032" eaLnBrk="1" fontAlgn="auto" hangingPunct="1">
              <a:defRPr/>
            </a:pPr>
            <a:r>
              <a:rPr lang="en-US" altLang="en-US" dirty="0">
                <a:ea typeface="ＭＳ Ｐゴシック" pitchFamily="34" charset="-128"/>
              </a:rPr>
              <a:t>Original SQL query is transformed into slightly different version of the original SQL code which is fully equivalent and more efficient</a:t>
            </a:r>
          </a:p>
          <a:p>
            <a:pPr marL="365760" indent="-256032" eaLnBrk="1" fontAlgn="auto" hangingPunct="1">
              <a:defRPr/>
            </a:pPr>
            <a:r>
              <a:rPr lang="en-US" altLang="en-US" b="1" dirty="0">
                <a:ea typeface="ＭＳ Ｐゴシック" pitchFamily="34" charset="-128"/>
              </a:rPr>
              <a:t>Query optimizer</a:t>
            </a:r>
            <a:r>
              <a:rPr lang="en-US" altLang="en-US" dirty="0">
                <a:ea typeface="ＭＳ Ｐゴシック" pitchFamily="34" charset="-128"/>
              </a:rPr>
              <a:t>: Analyzes SQL query and finds most efficient way to access data</a:t>
            </a:r>
          </a:p>
          <a:p>
            <a:pPr marL="365760" indent="-256032" eaLnBrk="1" fontAlgn="auto" hangingPunct="1">
              <a:defRPr/>
            </a:pPr>
            <a:r>
              <a:rPr lang="en-US" altLang="en-US" b="1" dirty="0">
                <a:ea typeface="ＭＳ Ｐゴシック" pitchFamily="34" charset="-128"/>
              </a:rPr>
              <a:t>Access plans</a:t>
            </a:r>
            <a:r>
              <a:rPr lang="en-US" altLang="en-US" dirty="0">
                <a:ea typeface="ＭＳ Ｐゴシック" pitchFamily="34" charset="-128"/>
              </a:rPr>
              <a:t>:</a:t>
            </a:r>
            <a:r>
              <a:rPr lang="en-US" altLang="en-US" b="1" dirty="0">
                <a:ea typeface="ＭＳ Ｐゴシック" pitchFamily="34" charset="-128"/>
              </a:rPr>
              <a:t> </a:t>
            </a:r>
            <a:r>
              <a:rPr lang="en-US" altLang="en-US" dirty="0">
                <a:ea typeface="ＭＳ Ｐゴシック" pitchFamily="34" charset="-128"/>
              </a:rPr>
              <a:t>DBMS-specific and translate client’s SQL query into a series of complex I/O operations</a:t>
            </a:r>
          </a:p>
          <a:p>
            <a:pPr marL="0" indent="0" eaLnBrk="1" fontAlgn="auto" hangingPunct="1">
              <a:buFontTx/>
              <a:buNone/>
              <a:defRPr/>
            </a:pPr>
            <a:endParaRPr lang="en-US" altLang="en-US" dirty="0">
              <a:ea typeface="ＭＳ Ｐゴシック" pitchFamily="34" charset="-128"/>
            </a:endParaRPr>
          </a:p>
          <a:p>
            <a:pPr marL="365760" indent="-256032" eaLnBrk="1" fontAlgn="auto" hangingPunct="1">
              <a:defRPr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7802055-08BB-47D4-8618-AF226A4FDF0C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SQL Parsing Phase</a:t>
            </a:r>
            <a:endParaRPr lang="en-US" altLang="en-US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If access plan already exists for query in SQL cache, DBMS reuses it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If not, optimizer evaluates various plans and chooses one to be placed in SQL cache for use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2421B2A-5223-427C-B8D9-0F08E88460B1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SQL Execution Phase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All I/O operations indicated in the access plan are executed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Locks are acquired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 are retrieved and placed in data cache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Transaction management commands are processed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51C8E9D-E1EA-47E5-996F-FFCA32800CA7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SQL Fetching Phase</a:t>
            </a:r>
            <a:endParaRPr lang="en-US" altLang="en-US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Rows of resulting query result set are returned to client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may use temporary table space to store temporary data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Database server coordinates the movement of the result set rows from the server cache to the client cache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E15F99-D934-4997-9B44-9CE62E1E19E4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Query Processing Bottlenecks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Delay introduced in the processing of an I/O operation that slows the system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Caused by the: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CPU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RAM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Hard disk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Network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Application code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F7599E-45CA-4C81-A689-8B8957DAD241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Indexes and Query Optimization</a:t>
            </a:r>
            <a:endParaRPr lang="en-US" altLang="en-US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Indexes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Help speed up data access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Facilitate searching, sorting, using aggregate functions, and join operations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Ordered set of values that contain the index key and pointers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More efficient than a full table scan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D2E85A2-6AB5-4D98-9D17-84C08B859170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Indexes and Query Optimization</a:t>
            </a:r>
            <a:endParaRPr lang="en-US" altLang="en-US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Data sparsity</a:t>
            </a:r>
            <a:r>
              <a:rPr lang="en-US" altLang="en-US" smtClean="0">
                <a:ea typeface="ＭＳ Ｐゴシック" panose="020B0600070205080204" pitchFamily="34" charset="-128"/>
              </a:rPr>
              <a:t>: Number of different values a column could have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 structures used to implement indexes:</a:t>
            </a:r>
          </a:p>
          <a:p>
            <a:pPr lvl="1"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Hash indexes</a:t>
            </a:r>
          </a:p>
          <a:p>
            <a:pPr lvl="1"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B-tree indexes</a:t>
            </a:r>
          </a:p>
          <a:p>
            <a:pPr lvl="1"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Bitmap indexes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DBMSs determine best type of index to use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A5A235A-D3F1-4BB9-B3BD-015E1249C743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Optimizer Choices</a:t>
            </a:r>
            <a:endParaRPr lang="en-US" altLang="en-US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Rule-based optimizer</a:t>
            </a:r>
            <a:r>
              <a:rPr lang="en-US" altLang="en-US" smtClean="0">
                <a:ea typeface="ＭＳ Ｐゴシック" panose="020B0600070205080204" pitchFamily="34" charset="-128"/>
              </a:rPr>
              <a:t>:</a:t>
            </a:r>
            <a:r>
              <a:rPr lang="en-US" altLang="en-US" b="1" smtClean="0">
                <a:ea typeface="ＭＳ Ｐゴシック" panose="020B0600070205080204" pitchFamily="34" charset="-128"/>
              </a:rPr>
              <a:t> </a:t>
            </a:r>
            <a:r>
              <a:rPr lang="en-US" altLang="en-US" smtClean="0">
                <a:ea typeface="ＭＳ Ｐゴシック" panose="020B0600070205080204" pitchFamily="34" charset="-128"/>
              </a:rPr>
              <a:t>Uses preset rules and points to determine the best approach to execute a query</a:t>
            </a:r>
            <a:endParaRPr lang="en-US" altLang="en-US" b="1" smtClean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Cost-based optimizer</a:t>
            </a:r>
            <a:r>
              <a:rPr lang="en-US" altLang="en-US" smtClean="0">
                <a:ea typeface="ＭＳ Ｐゴシック" panose="020B0600070205080204" pitchFamily="34" charset="-128"/>
              </a:rPr>
              <a:t>: Uses algorithms based on statistics about objects being accessed to determine the best approach to execute a query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4D8D217-9F5D-4006-B03D-176B0988D86F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Using Hints to Affect Optimizer Choices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Optimizer might not choose the best execution plan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Makes decisions based on existing statistics, which might be old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Might choose less-efficient decisions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Optimizer hints</a:t>
            </a:r>
            <a:r>
              <a:rPr lang="en-US" altLang="en-US" smtClean="0">
                <a:ea typeface="ＭＳ Ｐゴシック" panose="020B0600070205080204" pitchFamily="34" charset="-128"/>
              </a:rPr>
              <a:t>: Special instructions for the optimizer, embedded in the SQL command text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D7AD2D9-148A-4589-9232-2D0266B1BA3B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Table 11.5 - Optimizer Hints</a:t>
            </a:r>
            <a:endParaRPr lang="en-US" altLang="en-US" smtClean="0"/>
          </a:p>
        </p:txBody>
      </p:sp>
      <p:pic>
        <p:nvPicPr>
          <p:cNvPr id="3686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28813"/>
            <a:ext cx="8991600" cy="409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53A427A-0D06-4CB2-9859-B9DFAAB80D2D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SQL Performance Tuning</a:t>
            </a:r>
            <a:endParaRPr lang="en-US" altLang="en-US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Evaluated from client perspective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Most current relational DBMSs perform automatic query optimization at the server end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Most SQL performance optimization techniques are DBMS-specific and thus rarely portable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Majority of performance problems are related to poorly written SQL code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572D78-C0E5-4894-AAFC-4C631701DE20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Index Selectivity</a:t>
            </a:r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Measure of the likelihood that an index will be used in query processing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Indexes are used when a subset of rows from a large table is to be selected based on a given condition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Index cannot always be used to improve performance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Function-based index</a:t>
            </a:r>
            <a:r>
              <a:rPr lang="en-US" altLang="en-US" smtClean="0">
                <a:ea typeface="ＭＳ Ｐゴシック" panose="020B0600070205080204" pitchFamily="34" charset="-128"/>
              </a:rPr>
              <a:t>: Based on a specific SQL function or expression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10FE9BC-6942-435A-9DF2-B261905A7F6A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Conditional Expressions</a:t>
            </a:r>
            <a:endParaRPr lang="en-US" altLang="en-US" smtClean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Expressed within WHERE or HAVING clauses of a SQL statement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Restricts the output of a query to only rows matching conditional criteria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Guidelines to write efficient conditional expressions in SQL code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Use simple columns or literals as operands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Numeric field comparisons are faster than character, date, and NULL comparisons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906DF7-0A98-4225-9B34-B8636E1C2CEB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Conditional Expressions</a:t>
            </a:r>
            <a:endParaRPr lang="en-US" altLang="en-US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Equality comparisons are faster than inequality comparisons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Transform conditional expressions to use literals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Write equality conditions first when using multiple conditional expressions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When using multiple AND conditions, write the condition most likely to be false first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When using multiple OR conditions, put the condition most likely to be true first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Avoid the use of NOT logical operator</a:t>
            </a:r>
          </a:p>
          <a:p>
            <a:pPr lvl="1" eaLnBrk="1" hangingPunct="1"/>
            <a:endParaRPr lang="en-US" altLang="en-US" smtClean="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433318-838C-4E76-95BE-09A79C08B957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Query Formulation</a:t>
            </a:r>
            <a:endParaRPr lang="en-US" alt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Identify what columns and computations are required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Identify source tables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Determine how to join tables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Determine what selection criteria are needed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Determine the order in which to display the output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8682B2D-9BC8-4D64-8C21-D97FA3C3A5BB}" type="slidenum">
              <a:rPr lang="en-US" altLang="en-US"/>
              <a:pPr eaLnBrk="1" hangingPunct="1"/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Performance Tuning</a:t>
            </a:r>
            <a:endParaRPr lang="en-US" altLang="en-US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Managing DBMS processes in primary memory and the structures in physical storage</a:t>
            </a:r>
          </a:p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performance tuning at server end focuses on setting parameters used for: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Data cache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SQL cache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Sort cache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Optimizer mode</a:t>
            </a:r>
          </a:p>
          <a:p>
            <a:pPr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In-memory database</a:t>
            </a:r>
            <a:r>
              <a:rPr lang="en-US" altLang="en-US" smtClean="0">
                <a:ea typeface="ＭＳ Ｐゴシック" panose="020B0600070205080204" pitchFamily="34" charset="-128"/>
              </a:rPr>
              <a:t>: Store large portions of the database in primary storage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5499D3C-AE62-4A2F-A5A1-5CC42B02CD83}" type="slidenum">
              <a:rPr lang="en-US" altLang="en-US"/>
              <a:pPr eaLnBrk="1" hangingPunct="1"/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Performance Tuning</a:t>
            </a:r>
            <a:endParaRPr lang="en-US" altLang="en-US" smtClean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Recommendations for physical storage of databases: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Use </a:t>
            </a:r>
            <a:r>
              <a:rPr lang="en-US" altLang="en-US" b="1" smtClean="0">
                <a:ea typeface="ＭＳ Ｐゴシック" panose="020B0600070205080204" pitchFamily="34" charset="-128"/>
              </a:rPr>
              <a:t>RAID</a:t>
            </a:r>
            <a:r>
              <a:rPr lang="en-US" altLang="en-US" smtClean="0">
                <a:ea typeface="ＭＳ Ｐゴシック" panose="020B0600070205080204" pitchFamily="34" charset="-128"/>
              </a:rPr>
              <a:t> (Redundant Array of Independent Disks) to provide a balance between performance improvement and fault</a:t>
            </a:r>
            <a:r>
              <a:rPr lang="th-TH" altLang="en-US" smtClean="0">
                <a:ea typeface="ＭＳ Ｐゴシック" panose="020B0600070205080204" pitchFamily="34" charset="-128"/>
              </a:rPr>
              <a:t> </a:t>
            </a:r>
            <a:r>
              <a:rPr lang="en-US" altLang="en-US" smtClean="0">
                <a:ea typeface="ＭＳ Ｐゴシック" panose="020B0600070205080204" pitchFamily="34" charset="-128"/>
              </a:rPr>
              <a:t>tolerance</a:t>
            </a:r>
            <a:endParaRPr lang="th-TH" altLang="en-US" smtClean="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Minimize disk contention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Put high-usage tables in their own table spaces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Assign separate data files in separate storage volumes for indexes, system, and high-usage tables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412F1CF-B26C-4DB6-BE72-0F13B6FD052F}" type="slidenum">
              <a:rPr lang="en-US" altLang="en-US"/>
              <a:pPr eaLnBrk="1" hangingPunct="1"/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DBMS Performance Tuning</a:t>
            </a:r>
            <a:endParaRPr lang="en-US" altLang="en-US" smtClean="0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Take advantage of the various table storage organizations in the database</a:t>
            </a:r>
          </a:p>
          <a:p>
            <a:pPr lvl="2" eaLnBrk="1" hangingPunct="1"/>
            <a:r>
              <a:rPr lang="en-US" altLang="en-US" b="1" smtClean="0">
                <a:ea typeface="ＭＳ Ｐゴシック" panose="020B0600070205080204" pitchFamily="34" charset="-128"/>
              </a:rPr>
              <a:t>Index-organized table </a:t>
            </a:r>
            <a:r>
              <a:rPr lang="en-US" altLang="en-US" smtClean="0">
                <a:ea typeface="ＭＳ Ｐゴシック" panose="020B0600070205080204" pitchFamily="34" charset="-128"/>
              </a:rPr>
              <a:t>or </a:t>
            </a:r>
            <a:r>
              <a:rPr lang="en-US" altLang="en-US" b="1" smtClean="0">
                <a:ea typeface="ＭＳ Ｐゴシック" panose="020B0600070205080204" pitchFamily="34" charset="-128"/>
              </a:rPr>
              <a:t>clustered index table</a:t>
            </a:r>
            <a:r>
              <a:rPr lang="en-US" altLang="en-US" smtClean="0">
                <a:ea typeface="ＭＳ Ｐゴシック" panose="020B0600070205080204" pitchFamily="34" charset="-128"/>
              </a:rPr>
              <a:t>: Stores the end-user data and the index data in consecutive locations in permanent storage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Partition tables based on usage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Use denormalized tables where appropriate</a:t>
            </a:r>
          </a:p>
          <a:p>
            <a:pPr lvl="1" eaLnBrk="1" hangingPunct="1"/>
            <a:r>
              <a:rPr lang="en-US" altLang="en-US" smtClean="0">
                <a:ea typeface="ＭＳ Ｐゴシック" panose="020B0600070205080204" pitchFamily="34" charset="-128"/>
              </a:rPr>
              <a:t>Store computed and aggregate attributes in tables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C3F3C6E-17B0-42B9-A8F8-AB944AF036BB}" type="slidenum">
              <a:rPr lang="en-US" altLang="en-US"/>
              <a:pPr eaLnBrk="1" hangingPunct="1"/>
              <a:t>31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1123</TotalTime>
  <Words>1333</Words>
  <Application>Microsoft Office PowerPoint</Application>
  <PresentationFormat>On-screen Show (4:3)</PresentationFormat>
  <Paragraphs>189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ＭＳ Ｐゴシック</vt:lpstr>
      <vt:lpstr>Arial</vt:lpstr>
      <vt:lpstr>Calibri</vt:lpstr>
      <vt:lpstr>Georgia</vt:lpstr>
      <vt:lpstr>Times New Roman</vt:lpstr>
      <vt:lpstr>Wingdings</vt:lpstr>
      <vt:lpstr>Urban</vt:lpstr>
      <vt:lpstr>Learning Objectives</vt:lpstr>
      <vt:lpstr>Database Performance-Tuning Concepts</vt:lpstr>
      <vt:lpstr>General Guidelines for Better System Performance</vt:lpstr>
      <vt:lpstr>Performance Tuning: Client and Server</vt:lpstr>
      <vt:lpstr>DBMS Architecture</vt:lpstr>
      <vt:lpstr>DBMS Architecture</vt:lpstr>
      <vt:lpstr>Basic DBMS Architecture</vt:lpstr>
      <vt:lpstr>Database Query Optimization Modes</vt:lpstr>
      <vt:lpstr>Classification of Operation Modes</vt:lpstr>
      <vt:lpstr>Classification Based on Timing of Optimization </vt:lpstr>
      <vt:lpstr>Classification Based on Type of Information Used to Optimize the Query</vt:lpstr>
      <vt:lpstr>Table 11.2 - Sample Database Statistics Measurements</vt:lpstr>
      <vt:lpstr>Query Processing</vt:lpstr>
      <vt:lpstr>SQL Parsing Phase</vt:lpstr>
      <vt:lpstr>SQL Parsing Phase</vt:lpstr>
      <vt:lpstr>SQL Execution Phase</vt:lpstr>
      <vt:lpstr>SQL Fetching Phase</vt:lpstr>
      <vt:lpstr>Query Processing Bottlenecks</vt:lpstr>
      <vt:lpstr>Indexes and Query Optimization</vt:lpstr>
      <vt:lpstr>Indexes and Query Optimization</vt:lpstr>
      <vt:lpstr>Optimizer Choices</vt:lpstr>
      <vt:lpstr>Using Hints to Affect Optimizer Choices</vt:lpstr>
      <vt:lpstr>Table 11.5 - Optimizer Hints</vt:lpstr>
      <vt:lpstr>SQL Performance Tuning</vt:lpstr>
      <vt:lpstr>Index Selectivity</vt:lpstr>
      <vt:lpstr>Conditional Expressions</vt:lpstr>
      <vt:lpstr>Conditional Expressions</vt:lpstr>
      <vt:lpstr>Query Formulation</vt:lpstr>
      <vt:lpstr>DBMS Performance Tuning</vt:lpstr>
      <vt:lpstr>DBMS Performance Tuning</vt:lpstr>
      <vt:lpstr>DBMS Performance Tuning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</dc:creator>
  <cp:lastModifiedBy>Bo Hatfield</cp:lastModifiedBy>
  <cp:revision>15</cp:revision>
  <dcterms:created xsi:type="dcterms:W3CDTF">2014-01-28T12:09:28Z</dcterms:created>
  <dcterms:modified xsi:type="dcterms:W3CDTF">2017-04-25T13:46:29Z</dcterms:modified>
</cp:coreProperties>
</file>