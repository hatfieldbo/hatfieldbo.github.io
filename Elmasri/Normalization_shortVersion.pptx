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47"/>
  </p:notesMasterIdLst>
  <p:handoutMasterIdLst>
    <p:handoutMasterId r:id="rId48"/>
  </p:handoutMasterIdLst>
  <p:sldIdLst>
    <p:sldId id="400" r:id="rId2"/>
    <p:sldId id="257" r:id="rId3"/>
    <p:sldId id="336" r:id="rId4"/>
    <p:sldId id="359" r:id="rId5"/>
    <p:sldId id="401" r:id="rId6"/>
    <p:sldId id="361" r:id="rId7"/>
    <p:sldId id="362" r:id="rId8"/>
    <p:sldId id="363" r:id="rId9"/>
    <p:sldId id="364" r:id="rId10"/>
    <p:sldId id="365" r:id="rId11"/>
    <p:sldId id="366" r:id="rId12"/>
    <p:sldId id="374" r:id="rId13"/>
    <p:sldId id="375" r:id="rId14"/>
    <p:sldId id="367" r:id="rId15"/>
    <p:sldId id="402" r:id="rId16"/>
    <p:sldId id="403" r:id="rId17"/>
    <p:sldId id="360" r:id="rId18"/>
    <p:sldId id="404" r:id="rId19"/>
    <p:sldId id="405" r:id="rId20"/>
    <p:sldId id="369" r:id="rId21"/>
    <p:sldId id="370" r:id="rId22"/>
    <p:sldId id="398" r:id="rId23"/>
    <p:sldId id="372" r:id="rId24"/>
    <p:sldId id="373" r:id="rId25"/>
    <p:sldId id="377" r:id="rId26"/>
    <p:sldId id="378" r:id="rId27"/>
    <p:sldId id="379" r:id="rId28"/>
    <p:sldId id="411" r:id="rId29"/>
    <p:sldId id="412" r:id="rId30"/>
    <p:sldId id="422" r:id="rId31"/>
    <p:sldId id="423" r:id="rId32"/>
    <p:sldId id="407" r:id="rId33"/>
    <p:sldId id="425" r:id="rId34"/>
    <p:sldId id="426" r:id="rId35"/>
    <p:sldId id="409" r:id="rId36"/>
    <p:sldId id="428" r:id="rId37"/>
    <p:sldId id="427" r:id="rId38"/>
    <p:sldId id="417" r:id="rId39"/>
    <p:sldId id="429" r:id="rId40"/>
    <p:sldId id="418" r:id="rId41"/>
    <p:sldId id="431" r:id="rId42"/>
    <p:sldId id="421" r:id="rId43"/>
    <p:sldId id="430" r:id="rId44"/>
    <p:sldId id="424" r:id="rId45"/>
    <p:sldId id="419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8F8F8"/>
    <a:srgbClr val="33CC33"/>
    <a:srgbClr val="364A3B"/>
    <a:srgbClr val="080808"/>
    <a:srgbClr val="EAEAE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07" autoAdjust="0"/>
    <p:restoredTop sz="94660" autoAdjust="0"/>
  </p:normalViewPr>
  <p:slideViewPr>
    <p:cSldViewPr>
      <p:cViewPr varScale="1">
        <p:scale>
          <a:sx n="113" d="100"/>
          <a:sy n="113" d="100"/>
        </p:scale>
        <p:origin x="4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6.xml"/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49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49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5BFE50-29B8-4CD6-BCC5-6A37B9296E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7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57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7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988E50-FA9D-4825-8485-9E569BD4792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2E247B0-C698-438F-8BD4-36338294EDC5}" type="slidenum">
              <a:rPr kumimoji="0" lang="en-US" altLang="en-US"/>
              <a:pPr eaLnBrk="1" hangingPunct="1">
                <a:spcBef>
                  <a:spcPct val="0"/>
                </a:spcBef>
              </a:pPr>
              <a:t>30</a:t>
            </a:fld>
            <a:endParaRPr kumimoji="0"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C6DA2A7-DC7B-433B-AC49-516F80A74974}" type="slidenum">
              <a:rPr kumimoji="0" lang="en-US" altLang="en-US"/>
              <a:pPr eaLnBrk="1" hangingPunct="1">
                <a:spcBef>
                  <a:spcPct val="0"/>
                </a:spcBef>
              </a:pPr>
              <a:t>34</a:t>
            </a:fld>
            <a:endParaRPr kumimoji="0"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2CF55F4-4C0A-4EF5-8736-A64E59849534}" type="slidenum">
              <a:rPr kumimoji="0" lang="en-US" altLang="en-US"/>
              <a:pPr eaLnBrk="1" hangingPunct="1">
                <a:spcBef>
                  <a:spcPct val="0"/>
                </a:spcBef>
              </a:pPr>
              <a:t>35</a:t>
            </a:fld>
            <a:endParaRPr kumimoji="0"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0B739F4-38B3-42C0-84BA-87156ED89B7B}" type="slidenum">
              <a:rPr kumimoji="0" lang="en-US" altLang="en-US"/>
              <a:pPr eaLnBrk="1" hangingPunct="1">
                <a:spcBef>
                  <a:spcPct val="0"/>
                </a:spcBef>
              </a:pPr>
              <a:t>36</a:t>
            </a:fld>
            <a:endParaRPr kumimoji="0"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D188A09-4D26-4B9F-A305-4D569192190B}" type="slidenum">
              <a:rPr kumimoji="0" lang="en-US" altLang="en-US"/>
              <a:pPr eaLnBrk="1" hangingPunct="1">
                <a:spcBef>
                  <a:spcPct val="0"/>
                </a:spcBef>
              </a:pPr>
              <a:t>37</a:t>
            </a:fld>
            <a:endParaRPr kumimoji="0" lang="en-US" alt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47D2405-6C90-4306-AC64-9A5164857380}" type="slidenum">
              <a:rPr kumimoji="0" lang="en-US" altLang="en-US"/>
              <a:pPr eaLnBrk="1" hangingPunct="1">
                <a:spcBef>
                  <a:spcPct val="0"/>
                </a:spcBef>
              </a:pPr>
              <a:t>38</a:t>
            </a:fld>
            <a:endParaRPr kumimoji="0"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4D1009E-8A7E-4026-B7CE-C17CF6384616}" type="slidenum">
              <a:rPr kumimoji="0" lang="en-US" altLang="en-US"/>
              <a:pPr eaLnBrk="1" hangingPunct="1">
                <a:spcBef>
                  <a:spcPct val="0"/>
                </a:spcBef>
              </a:pPr>
              <a:t>39</a:t>
            </a:fld>
            <a:endParaRPr kumimoji="0" lang="en-US" alt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5C5782F-1F09-42D4-9098-24F0BDB3E30E}" type="slidenum">
              <a:rPr kumimoji="0" lang="en-US" altLang="en-US"/>
              <a:pPr eaLnBrk="1" hangingPunct="1">
                <a:spcBef>
                  <a:spcPct val="0"/>
                </a:spcBef>
              </a:pPr>
              <a:t>40</a:t>
            </a:fld>
            <a:endParaRPr kumimoji="0" lang="en-US" alt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7B02D71-8139-4BB1-8C53-0830400C8BAB}" type="slidenum">
              <a:rPr kumimoji="0" lang="en-US" altLang="en-US"/>
              <a:pPr eaLnBrk="1" hangingPunct="1">
                <a:spcBef>
                  <a:spcPct val="0"/>
                </a:spcBef>
              </a:pPr>
              <a:t>41</a:t>
            </a:fld>
            <a:endParaRPr kumimoji="0"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0971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7B02D71-8139-4BB1-8C53-0830400C8BAB}" type="slidenum">
              <a:rPr kumimoji="0" lang="en-US" altLang="en-US"/>
              <a:pPr eaLnBrk="1" hangingPunct="1">
                <a:spcBef>
                  <a:spcPct val="0"/>
                </a:spcBef>
              </a:pPr>
              <a:t>42</a:t>
            </a:fld>
            <a:endParaRPr kumimoji="0"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BF9038-6013-4B38-AC14-A3ABBBDB860B}" type="slidenum">
              <a:rPr kumimoji="0" lang="en-US" altLang="en-US"/>
              <a:pPr eaLnBrk="1" hangingPunct="1">
                <a:spcBef>
                  <a:spcPct val="0"/>
                </a:spcBef>
              </a:pPr>
              <a:t>44</a:t>
            </a:fld>
            <a:endParaRPr kumimoji="0"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7320B03F-37E4-4333-A5C7-4CE69CAEEB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138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843A5-AABD-4236-B7F0-162358A8F9C0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A252-BD0E-4CB7-A720-6B3D57C253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70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087EB-2E0C-41A8-BE7F-11770FAABE61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A8960EC6-BD5C-4BB9-A903-26E33E5E90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36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E017C-C75E-40F9-A171-4717E00C088B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9E13B4-135B-4209-96CF-50ABB58627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389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32FA7-88B2-4160-AB38-E87F4693B1CD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CB61F-5AA6-4B43-8C2C-CD241FE5DF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65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650D5-5DCC-4398-A9D8-D87E0F6C4660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6ABE36-A0FF-496F-A59E-A2BBDA749A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780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2DBE0-18C1-4152-AF72-CB29B84BFD19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F3CE3-B7DE-40C6-B727-C1E93D5B74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260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9878CF-D05B-44E6-B2DC-378B5EB04C72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4717C8-D341-442F-94F5-B12507B8CE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58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BBF38-0061-4564-BDA3-37B76B94E403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38A2FF5F-46D1-4DFE-A6DF-FF71231BE5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75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5C5D3-F640-455D-829B-02282FA49DFA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09F589-7BE5-408E-A455-6CF7E1AFFF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29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656A9-9F58-4C60-8032-CE57CE4D7BD3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72286D-8307-458F-A3E3-23946CF73C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04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974112D3-B302-4D36-ABAD-924DBB17E5BE}" type="datetimeFigureOut">
              <a:rPr lang="en-US"/>
              <a:pPr>
                <a:defRPr/>
              </a:pPr>
              <a:t>3/30/2017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fld id="{7955FEF7-785F-48B4-992C-F26DF965CDB8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0" r:id="rId2"/>
    <p:sldLayoutId id="2147483759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60" r:id="rId9"/>
    <p:sldLayoutId id="2147483756" r:id="rId10"/>
    <p:sldLayoutId id="214748375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914400"/>
            <a:ext cx="7927848" cy="4114800"/>
          </a:xfrm>
          <a:extLst/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4400" dirty="0"/>
              <a:t> The Relational Model</a:t>
            </a:r>
            <a:r>
              <a:rPr lang="en-US" altLang="en-US" sz="4400" dirty="0" smtClean="0"/>
              <a:t>:</a:t>
            </a:r>
            <a:br>
              <a:rPr lang="en-US" altLang="en-US" sz="4400" dirty="0" smtClean="0"/>
            </a:br>
            <a:r>
              <a:rPr lang="en-US" altLang="en-US" sz="4400" dirty="0" smtClean="0"/>
              <a:t> </a:t>
            </a:r>
            <a:r>
              <a:rPr lang="en-US" altLang="en-US" sz="4400" dirty="0"/>
              <a:t/>
            </a:r>
            <a:br>
              <a:rPr lang="en-US" altLang="en-US" sz="4400" dirty="0"/>
            </a:br>
            <a:r>
              <a:rPr lang="en-US" altLang="en-US" sz="4400" dirty="0" smtClean="0"/>
              <a:t>Functional Dependencies</a:t>
            </a:r>
            <a:br>
              <a:rPr lang="en-US" altLang="en-US" sz="4400" dirty="0" smtClean="0"/>
            </a:br>
            <a:r>
              <a:rPr lang="en-US" altLang="en-US" sz="4400" dirty="0" smtClean="0"/>
              <a:t>and </a:t>
            </a:r>
            <a:br>
              <a:rPr lang="en-US" altLang="en-US" sz="4400" dirty="0" smtClean="0"/>
            </a:br>
            <a:r>
              <a:rPr lang="en-US" altLang="en-US" sz="4400" dirty="0" smtClean="0"/>
              <a:t>Normalization</a:t>
            </a:r>
            <a:endParaRPr lang="en-US" altLang="en-US" sz="4400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98531ED-DC7A-4A1C-9700-62925C4373D6}" type="slidenum">
              <a:rPr lang="en-US" altLang="en-US">
                <a:solidFill>
                  <a:srgbClr val="D1EAEE"/>
                </a:solidFill>
              </a:rPr>
              <a:pPr eaLnBrk="1" hangingPunct="1"/>
              <a:t>1</a:t>
            </a:fld>
            <a:endParaRPr lang="en-US" altLang="en-US">
              <a:solidFill>
                <a:srgbClr val="D1EAE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/>
          <a:lstStyle/>
          <a:p>
            <a:pPr eaLnBrk="1" hangingPunct="1"/>
            <a:r>
              <a:rPr lang="en-US" altLang="en-US" smtClean="0"/>
              <a:t>Learning Objectives 	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163"/>
            <a:ext cx="8229600" cy="4465637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400" smtClean="0"/>
              <a:t>Understand the following terms: Anomaly, three types of anomalies, functional dependency</a:t>
            </a:r>
          </a:p>
          <a:p>
            <a:pPr eaLnBrk="1" hangingPunct="1"/>
            <a:r>
              <a:rPr lang="en-US" altLang="en-US" sz="2400" smtClean="0"/>
              <a:t>Be able to identify insertion, deletion, and modification anomalies given a bad relational design</a:t>
            </a:r>
          </a:p>
          <a:p>
            <a:pPr eaLnBrk="1" hangingPunct="1"/>
            <a:r>
              <a:rPr lang="en-US" altLang="en-US" sz="2400" smtClean="0"/>
              <a:t>Informal guidelines for good relational database design</a:t>
            </a:r>
          </a:p>
          <a:p>
            <a:pPr eaLnBrk="1" hangingPunct="1"/>
            <a:r>
              <a:rPr lang="en-US" altLang="en-US" sz="2400" smtClean="0"/>
              <a:t>Formal concepts of functional dependencies and normal forms</a:t>
            </a:r>
          </a:p>
          <a:p>
            <a:pPr lvl="1" eaLnBrk="1" hangingPunct="1"/>
            <a:r>
              <a:rPr lang="en-US" altLang="en-US" sz="2200" smtClean="0"/>
              <a:t>First Normal Form (1NF)</a:t>
            </a:r>
          </a:p>
          <a:p>
            <a:pPr lvl="1" eaLnBrk="1" hangingPunct="1"/>
            <a:r>
              <a:rPr lang="en-US" altLang="en-US" sz="2200" smtClean="0"/>
              <a:t>Second Normal Form (2NF)</a:t>
            </a:r>
          </a:p>
          <a:p>
            <a:pPr lvl="1" eaLnBrk="1" hangingPunct="1"/>
            <a:r>
              <a:rPr lang="en-US" altLang="en-US" sz="2200" smtClean="0"/>
              <a:t>Third Normal Form (3NF)</a:t>
            </a:r>
          </a:p>
          <a:p>
            <a:pPr lvl="1" eaLnBrk="1" hangingPunct="1"/>
            <a:r>
              <a:rPr lang="en-US" altLang="en-US" sz="2200" smtClean="0"/>
              <a:t>BCNF (Boyce-Codd Normal Form)</a:t>
            </a:r>
          </a:p>
          <a:p>
            <a:pPr eaLnBrk="1" hangingPunct="1">
              <a:buFont typeface="Monotype Sorts"/>
              <a:buNone/>
            </a:pPr>
            <a:endParaRPr lang="en-US" altLang="en-US" sz="2400" i="1" smtClean="0"/>
          </a:p>
          <a:p>
            <a:pPr eaLnBrk="1" hangingPunct="1"/>
            <a:endParaRPr lang="en-US" altLang="en-US" sz="2400" i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6CA71EF-DCC4-4846-B6D1-BADF308B7377}" type="slidenum">
              <a:rPr lang="en-US" altLang="en-US">
                <a:solidFill>
                  <a:srgbClr val="045C75"/>
                </a:solidFill>
              </a:rPr>
              <a:pPr eaLnBrk="1" hangingPunct="1"/>
              <a:t>2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Where does Normalization fit?</a:t>
            </a:r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891B5F-AA0C-4DFE-AB33-8704318BF60E}" type="slidenum">
              <a:rPr lang="en-US" altLang="en-US">
                <a:solidFill>
                  <a:srgbClr val="045C75"/>
                </a:solidFill>
              </a:rPr>
              <a:pPr eaLnBrk="1" hangingPunct="1"/>
              <a:t>3</a:t>
            </a:fld>
            <a:endParaRPr lang="en-US" altLang="en-US">
              <a:solidFill>
                <a:srgbClr val="045C75"/>
              </a:solidFill>
            </a:endParaRPr>
          </a:p>
        </p:txBody>
      </p:sp>
      <p:sp>
        <p:nvSpPr>
          <p:cNvPr id="7172" name="Text Box 52"/>
          <p:cNvSpPr txBox="1">
            <a:spLocks noChangeArrowheads="1"/>
          </p:cNvSpPr>
          <p:nvPr/>
        </p:nvSpPr>
        <p:spPr bwMode="auto">
          <a:xfrm>
            <a:off x="304800" y="4191000"/>
            <a:ext cx="1905000" cy="955675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>
                <a:latin typeface="Tahoma" panose="020B0604030504040204" pitchFamily="34" charset="0"/>
              </a:rPr>
              <a:t>Logical Design </a:t>
            </a:r>
          </a:p>
        </p:txBody>
      </p:sp>
      <p:sp>
        <p:nvSpPr>
          <p:cNvPr id="7173" name="Line 53"/>
          <p:cNvSpPr>
            <a:spLocks noChangeShapeType="1"/>
          </p:cNvSpPr>
          <p:nvPr/>
        </p:nvSpPr>
        <p:spPr bwMode="auto">
          <a:xfrm>
            <a:off x="65532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4" name="Text Box 54"/>
          <p:cNvSpPr txBox="1">
            <a:spLocks noChangeArrowheads="1"/>
          </p:cNvSpPr>
          <p:nvPr/>
        </p:nvSpPr>
        <p:spPr bwMode="auto">
          <a:xfrm>
            <a:off x="6858000" y="2438400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 Data Integrity</a:t>
            </a:r>
          </a:p>
        </p:txBody>
      </p:sp>
      <p:sp>
        <p:nvSpPr>
          <p:cNvPr id="7175" name="Text Box 55"/>
          <p:cNvSpPr txBox="1">
            <a:spLocks noChangeArrowheads="1"/>
          </p:cNvSpPr>
          <p:nvPr/>
        </p:nvSpPr>
        <p:spPr bwMode="auto">
          <a:xfrm>
            <a:off x="6781800" y="3352800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ahoma" panose="020B0604030504040204" pitchFamily="34" charset="0"/>
              </a:rPr>
              <a:t> Data Manipulation</a:t>
            </a:r>
          </a:p>
        </p:txBody>
      </p:sp>
      <p:sp>
        <p:nvSpPr>
          <p:cNvPr id="7176" name="Line 56"/>
          <p:cNvSpPr>
            <a:spLocks noChangeShapeType="1"/>
          </p:cNvSpPr>
          <p:nvPr/>
        </p:nvSpPr>
        <p:spPr bwMode="auto">
          <a:xfrm>
            <a:off x="64008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7" name="Line 57"/>
          <p:cNvSpPr>
            <a:spLocks noChangeShapeType="1"/>
          </p:cNvSpPr>
          <p:nvPr/>
        </p:nvSpPr>
        <p:spPr bwMode="auto">
          <a:xfrm>
            <a:off x="6553200" y="3581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8" name="Line 58"/>
          <p:cNvSpPr>
            <a:spLocks noChangeShapeType="1"/>
          </p:cNvSpPr>
          <p:nvPr/>
        </p:nvSpPr>
        <p:spPr bwMode="auto">
          <a:xfrm>
            <a:off x="65532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" name="Line 59"/>
          <p:cNvSpPr>
            <a:spLocks noChangeShapeType="1"/>
          </p:cNvSpPr>
          <p:nvPr/>
        </p:nvSpPr>
        <p:spPr bwMode="auto">
          <a:xfrm>
            <a:off x="2438400" y="3733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0" name="Line 60"/>
          <p:cNvSpPr>
            <a:spLocks noChangeShapeType="1"/>
          </p:cNvSpPr>
          <p:nvPr/>
        </p:nvSpPr>
        <p:spPr bwMode="auto">
          <a:xfrm>
            <a:off x="22098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1" name="Line 61"/>
          <p:cNvSpPr>
            <a:spLocks noChangeShapeType="1"/>
          </p:cNvSpPr>
          <p:nvPr/>
        </p:nvSpPr>
        <p:spPr bwMode="auto">
          <a:xfrm>
            <a:off x="2438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2" name="Line 62"/>
          <p:cNvSpPr>
            <a:spLocks noChangeShapeType="1"/>
          </p:cNvSpPr>
          <p:nvPr/>
        </p:nvSpPr>
        <p:spPr bwMode="auto">
          <a:xfrm>
            <a:off x="2438400" y="3733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3" name="Text Box 63"/>
          <p:cNvSpPr txBox="1">
            <a:spLocks noChangeArrowheads="1"/>
          </p:cNvSpPr>
          <p:nvPr/>
        </p:nvSpPr>
        <p:spPr bwMode="auto">
          <a:xfrm>
            <a:off x="2667000" y="2971800"/>
            <a:ext cx="152400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Translate ER into relational Model</a:t>
            </a:r>
          </a:p>
        </p:txBody>
      </p:sp>
      <p:sp>
        <p:nvSpPr>
          <p:cNvPr id="7184" name="Text Box 64"/>
          <p:cNvSpPr txBox="1">
            <a:spLocks noChangeArrowheads="1"/>
          </p:cNvSpPr>
          <p:nvPr/>
        </p:nvSpPr>
        <p:spPr bwMode="auto">
          <a:xfrm>
            <a:off x="2590800" y="5410200"/>
            <a:ext cx="2362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Normalization</a:t>
            </a:r>
          </a:p>
        </p:txBody>
      </p:sp>
      <p:sp>
        <p:nvSpPr>
          <p:cNvPr id="7185" name="Line 65"/>
          <p:cNvSpPr>
            <a:spLocks noChangeShapeType="1"/>
          </p:cNvSpPr>
          <p:nvPr/>
        </p:nvSpPr>
        <p:spPr bwMode="auto">
          <a:xfrm>
            <a:off x="4495800" y="2819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6" name="Line 66"/>
          <p:cNvSpPr>
            <a:spLocks noChangeShapeType="1"/>
          </p:cNvSpPr>
          <p:nvPr/>
        </p:nvSpPr>
        <p:spPr bwMode="auto">
          <a:xfrm>
            <a:off x="42672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7" name="Line 67"/>
          <p:cNvSpPr>
            <a:spLocks noChangeShapeType="1"/>
          </p:cNvSpPr>
          <p:nvPr/>
        </p:nvSpPr>
        <p:spPr bwMode="auto">
          <a:xfrm>
            <a:off x="4495800" y="4648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8" name="Line 68"/>
          <p:cNvSpPr>
            <a:spLocks noChangeShapeType="1"/>
          </p:cNvSpPr>
          <p:nvPr/>
        </p:nvSpPr>
        <p:spPr bwMode="auto">
          <a:xfrm>
            <a:off x="4495800" y="28194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9" name="Text Box 69"/>
          <p:cNvSpPr txBox="1">
            <a:spLocks noChangeArrowheads="1"/>
          </p:cNvSpPr>
          <p:nvPr/>
        </p:nvSpPr>
        <p:spPr bwMode="auto">
          <a:xfrm>
            <a:off x="4648200" y="2057400"/>
            <a:ext cx="1752600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Understand Relational Model</a:t>
            </a:r>
          </a:p>
        </p:txBody>
      </p:sp>
      <p:sp>
        <p:nvSpPr>
          <p:cNvPr id="7190" name="Text Box 70"/>
          <p:cNvSpPr txBox="1">
            <a:spLocks noChangeArrowheads="1"/>
          </p:cNvSpPr>
          <p:nvPr/>
        </p:nvSpPr>
        <p:spPr bwMode="auto">
          <a:xfrm>
            <a:off x="4648200" y="4495800"/>
            <a:ext cx="2819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How to translate?</a:t>
            </a:r>
          </a:p>
        </p:txBody>
      </p:sp>
      <p:sp>
        <p:nvSpPr>
          <p:cNvPr id="146503" name="Rectangle 71"/>
          <p:cNvSpPr>
            <a:spLocks noChangeArrowheads="1"/>
          </p:cNvSpPr>
          <p:nvPr/>
        </p:nvSpPr>
        <p:spPr bwMode="auto">
          <a:xfrm>
            <a:off x="2133600" y="5257800"/>
            <a:ext cx="3200400" cy="6858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92" name="Text Box 72"/>
          <p:cNvSpPr txBox="1">
            <a:spLocks noChangeArrowheads="1"/>
          </p:cNvSpPr>
          <p:nvPr/>
        </p:nvSpPr>
        <p:spPr bwMode="auto">
          <a:xfrm>
            <a:off x="6934200" y="1600200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6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6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50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“Good Design”: What is it?</a:t>
            </a:r>
          </a:p>
        </p:txBody>
      </p:sp>
      <p:sp>
        <p:nvSpPr>
          <p:cNvPr id="199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458200" cy="44196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Good design should avoid the following properties whenever possible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Redundancy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Anomaly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Null values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Later we will also discuss what a good design is in formal terminology (i.e., Normal Forms, etc.)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1600" b="1" dirty="0" smtClean="0">
              <a:solidFill>
                <a:schemeClr val="hlin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9A5B6E7-CBFA-4AC8-AF94-713996F68E4A}" type="slidenum">
              <a:rPr lang="en-US" altLang="en-US">
                <a:solidFill>
                  <a:srgbClr val="045C75"/>
                </a:solidFill>
              </a:rPr>
              <a:pPr eaLnBrk="1" hangingPunct="1"/>
              <a:t>4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81D80C3-8D72-4C6C-A7D6-3510EF00EC51}" type="slidenum">
              <a:rPr lang="en-US" altLang="en-US">
                <a:solidFill>
                  <a:srgbClr val="045C75"/>
                </a:solidFill>
              </a:rPr>
              <a:pPr eaLnBrk="1" hangingPunct="1"/>
              <a:t>5</a:t>
            </a:fld>
            <a:endParaRPr lang="en-US" altLang="en-US">
              <a:solidFill>
                <a:srgbClr val="045C75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6800"/>
            <a:ext cx="8305800" cy="5524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Redundancy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19200" y="1828800"/>
            <a:ext cx="71628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dirty="0" smtClean="0">
                <a:cs typeface="+mn-cs"/>
              </a:rPr>
              <a:t>Redundancy means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dirty="0" smtClean="0">
                <a:cs typeface="+mn-cs"/>
              </a:rPr>
              <a:t> Repeated data entry.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dirty="0" smtClean="0">
                <a:cs typeface="+mn-cs"/>
              </a:rPr>
              <a:t> Repeated changes in many places.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dirty="0" smtClean="0">
                <a:cs typeface="+mn-cs"/>
              </a:rPr>
              <a:t> More storage space.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1447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student has his SID, SNAME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class has its name and number of credits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We assume that each student may take more than one class</a:t>
            </a:r>
            <a:endParaRPr lang="en-US" altLang="en-US" sz="1600" b="1" smtClean="0">
              <a:solidFill>
                <a:schemeClr val="hlink"/>
              </a:solidFill>
            </a:endParaRPr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8E0D02-8858-4028-8E90-D8A932FA7074}" type="slidenum">
              <a:rPr lang="en-US" altLang="en-US">
                <a:solidFill>
                  <a:srgbClr val="045C75"/>
                </a:solidFill>
              </a:rPr>
              <a:pPr eaLnBrk="1" hangingPunct="1"/>
              <a:t>6</a:t>
            </a:fld>
            <a:endParaRPr lang="en-US" altLang="en-US">
              <a:solidFill>
                <a:srgbClr val="045C75"/>
              </a:solidFill>
            </a:endParaRPr>
          </a:p>
        </p:txBody>
      </p:sp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1371600" y="3657600"/>
            <a:ext cx="1219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ahoma" panose="020B0604030504040204" pitchFamily="34" charset="0"/>
              </a:rPr>
              <a:t>Student</a:t>
            </a:r>
          </a:p>
        </p:txBody>
      </p:sp>
      <p:sp>
        <p:nvSpPr>
          <p:cNvPr id="10246" name="Text Box 13"/>
          <p:cNvSpPr txBox="1">
            <a:spLocks noChangeArrowheads="1"/>
          </p:cNvSpPr>
          <p:nvPr/>
        </p:nvSpPr>
        <p:spPr bwMode="auto">
          <a:xfrm>
            <a:off x="5867400" y="3657600"/>
            <a:ext cx="1219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 smtClean="0">
                <a:latin typeface="Tahoma" panose="020B0604030504040204" pitchFamily="34" charset="0"/>
              </a:rPr>
              <a:t>Course</a:t>
            </a:r>
            <a:endParaRPr lang="en-US" altLang="en-US" sz="2000" dirty="0">
              <a:latin typeface="Tahoma" panose="020B0604030504040204" pitchFamily="34" charset="0"/>
            </a:endParaRPr>
          </a:p>
        </p:txBody>
      </p:sp>
      <p:sp>
        <p:nvSpPr>
          <p:cNvPr id="10247" name="AutoShape 14"/>
          <p:cNvSpPr>
            <a:spLocks noChangeArrowheads="1"/>
          </p:cNvSpPr>
          <p:nvPr/>
        </p:nvSpPr>
        <p:spPr bwMode="auto">
          <a:xfrm>
            <a:off x="3352800" y="3657600"/>
            <a:ext cx="1752600" cy="5334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0248" name="Text Box 15"/>
          <p:cNvSpPr txBox="1">
            <a:spLocks noChangeArrowheads="1"/>
          </p:cNvSpPr>
          <p:nvPr/>
        </p:nvSpPr>
        <p:spPr bwMode="auto">
          <a:xfrm>
            <a:off x="3505200" y="37338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</a:rPr>
              <a:t>Takes</a:t>
            </a:r>
          </a:p>
        </p:txBody>
      </p:sp>
      <p:sp>
        <p:nvSpPr>
          <p:cNvPr id="10249" name="Line 16"/>
          <p:cNvSpPr>
            <a:spLocks noChangeShapeType="1"/>
          </p:cNvSpPr>
          <p:nvPr/>
        </p:nvSpPr>
        <p:spPr bwMode="auto">
          <a:xfrm>
            <a:off x="2590800" y="391715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50" name="Line 18"/>
          <p:cNvSpPr>
            <a:spLocks noChangeShapeType="1"/>
          </p:cNvSpPr>
          <p:nvPr/>
        </p:nvSpPr>
        <p:spPr bwMode="auto">
          <a:xfrm>
            <a:off x="5105400" y="391865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51" name="Text Box 19"/>
          <p:cNvSpPr txBox="1">
            <a:spLocks noChangeArrowheads="1"/>
          </p:cNvSpPr>
          <p:nvPr/>
        </p:nvSpPr>
        <p:spPr bwMode="auto">
          <a:xfrm>
            <a:off x="2667000" y="3429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10252" name="Text Box 20"/>
          <p:cNvSpPr txBox="1">
            <a:spLocks noChangeArrowheads="1"/>
          </p:cNvSpPr>
          <p:nvPr/>
        </p:nvSpPr>
        <p:spPr bwMode="auto">
          <a:xfrm>
            <a:off x="5319889" y="3475567"/>
            <a:ext cx="49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M</a:t>
            </a:r>
          </a:p>
        </p:txBody>
      </p:sp>
      <p:sp>
        <p:nvSpPr>
          <p:cNvPr id="10253" name="Oval 22"/>
          <p:cNvSpPr>
            <a:spLocks noChangeArrowheads="1"/>
          </p:cNvSpPr>
          <p:nvPr/>
        </p:nvSpPr>
        <p:spPr bwMode="auto">
          <a:xfrm>
            <a:off x="3581400" y="43434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 smtClean="0"/>
              <a:t>SEMESTER</a:t>
            </a:r>
            <a:endParaRPr lang="en-US" altLang="en-US" sz="1400" dirty="0"/>
          </a:p>
        </p:txBody>
      </p:sp>
      <p:sp>
        <p:nvSpPr>
          <p:cNvPr id="10254" name="Line 23"/>
          <p:cNvSpPr>
            <a:spLocks noChangeShapeType="1"/>
          </p:cNvSpPr>
          <p:nvPr/>
        </p:nvSpPr>
        <p:spPr bwMode="auto">
          <a:xfrm>
            <a:off x="4229100" y="4191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1752" name="Rectangle 2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7200" y="4876800"/>
            <a:ext cx="8229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70000"/>
              <a:buFont typeface="Monotype Sorts"/>
              <a:buBlip>
                <a:blip r:embed="rId2"/>
              </a:buBlip>
            </a:pPr>
            <a:r>
              <a:rPr kumimoji="1" lang="en-US" altLang="en-US" sz="2400" dirty="0"/>
              <a:t> We would have: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SzPct val="70000"/>
            </a:pPr>
            <a:r>
              <a:rPr kumimoji="1" lang="en-US" altLang="en-US" sz="2000" dirty="0">
                <a:latin typeface="Courier New" panose="02070309020205020404" pitchFamily="49" charset="0"/>
              </a:rPr>
              <a:t>S(</a:t>
            </a:r>
            <a:r>
              <a:rPr kumimoji="1" lang="en-US" altLang="en-US" sz="2000" u="sng" dirty="0">
                <a:latin typeface="Courier New" panose="02070309020205020404" pitchFamily="49" charset="0"/>
              </a:rPr>
              <a:t>SID</a:t>
            </a:r>
            <a:r>
              <a:rPr kumimoji="1" lang="en-US" altLang="en-US" sz="2000" dirty="0">
                <a:latin typeface="Courier New" panose="02070309020205020404" pitchFamily="49" charset="0"/>
              </a:rPr>
              <a:t>, SNAME)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SzPct val="70000"/>
            </a:pPr>
            <a:r>
              <a:rPr kumimoji="1" lang="en-US" altLang="en-US" sz="2000" dirty="0">
                <a:latin typeface="Courier New" panose="02070309020205020404" pitchFamily="49" charset="0"/>
              </a:rPr>
              <a:t>C(C</a:t>
            </a:r>
            <a:r>
              <a:rPr kumimoji="1" lang="en-US" altLang="en-US" sz="2000" u="sng" dirty="0">
                <a:latin typeface="Courier New" panose="02070309020205020404" pitchFamily="49" charset="0"/>
              </a:rPr>
              <a:t>NAME</a:t>
            </a:r>
            <a:r>
              <a:rPr kumimoji="1" lang="en-US" altLang="en-US" sz="2000" dirty="0">
                <a:latin typeface="Courier New" panose="02070309020205020404" pitchFamily="49" charset="0"/>
              </a:rPr>
              <a:t>, CREDITS)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SzPct val="70000"/>
            </a:pPr>
            <a:r>
              <a:rPr kumimoji="1" lang="en-US" altLang="en-US" sz="2000" dirty="0">
                <a:latin typeface="Courier New" panose="02070309020205020404" pitchFamily="49" charset="0"/>
              </a:rPr>
              <a:t>SC(</a:t>
            </a:r>
            <a:r>
              <a:rPr kumimoji="1" lang="en-US" altLang="en-US" sz="2000" u="sng" dirty="0">
                <a:latin typeface="Courier New" panose="02070309020205020404" pitchFamily="49" charset="0"/>
              </a:rPr>
              <a:t>SID, CNAME</a:t>
            </a:r>
            <a:r>
              <a:rPr kumimoji="1" lang="en-US" altLang="en-US" sz="2000" dirty="0">
                <a:latin typeface="Courier New" panose="02070309020205020404" pitchFamily="49" charset="0"/>
              </a:rPr>
              <a:t>, SEMESTER)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70000"/>
              <a:buFont typeface="Monotype Sorts"/>
              <a:buBlip>
                <a:blip r:embed="rId2"/>
              </a:buBlip>
            </a:pPr>
            <a:endParaRPr kumimoji="1" lang="en-US" altLang="en-US" sz="1600" b="1" dirty="0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10256" name="Oval 25"/>
          <p:cNvSpPr>
            <a:spLocks noChangeArrowheads="1"/>
          </p:cNvSpPr>
          <p:nvPr/>
        </p:nvSpPr>
        <p:spPr bwMode="auto">
          <a:xfrm>
            <a:off x="457200" y="41910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 smtClean="0"/>
              <a:t>SNAME</a:t>
            </a:r>
            <a:endParaRPr lang="en-US" altLang="en-US" sz="1400" dirty="0"/>
          </a:p>
        </p:txBody>
      </p:sp>
      <p:sp>
        <p:nvSpPr>
          <p:cNvPr id="10257" name="Line 26"/>
          <p:cNvSpPr>
            <a:spLocks noChangeShapeType="1"/>
          </p:cNvSpPr>
          <p:nvPr/>
        </p:nvSpPr>
        <p:spPr bwMode="auto">
          <a:xfrm flipV="1">
            <a:off x="1143000" y="4038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58" name="Oval 27"/>
          <p:cNvSpPr>
            <a:spLocks noChangeArrowheads="1"/>
          </p:cNvSpPr>
          <p:nvPr/>
        </p:nvSpPr>
        <p:spPr bwMode="auto">
          <a:xfrm>
            <a:off x="6172200" y="43434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 smtClean="0"/>
              <a:t>CREDITS</a:t>
            </a:r>
            <a:endParaRPr lang="en-US" altLang="en-US" sz="1400" dirty="0"/>
          </a:p>
        </p:txBody>
      </p:sp>
      <p:sp>
        <p:nvSpPr>
          <p:cNvPr id="10259" name="Line 28"/>
          <p:cNvSpPr>
            <a:spLocks noChangeShapeType="1"/>
          </p:cNvSpPr>
          <p:nvPr/>
        </p:nvSpPr>
        <p:spPr bwMode="auto">
          <a:xfrm flipH="1" flipV="1">
            <a:off x="6400800" y="4059765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60" name="Oval 29"/>
          <p:cNvSpPr>
            <a:spLocks noChangeArrowheads="1"/>
          </p:cNvSpPr>
          <p:nvPr/>
        </p:nvSpPr>
        <p:spPr bwMode="auto">
          <a:xfrm>
            <a:off x="311856" y="32512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u="sng" dirty="0"/>
              <a:t>SID</a:t>
            </a:r>
          </a:p>
        </p:txBody>
      </p:sp>
      <p:sp>
        <p:nvSpPr>
          <p:cNvPr id="10261" name="Line 30"/>
          <p:cNvSpPr>
            <a:spLocks noChangeShapeType="1"/>
          </p:cNvSpPr>
          <p:nvPr/>
        </p:nvSpPr>
        <p:spPr bwMode="auto">
          <a:xfrm>
            <a:off x="1143000" y="3505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62" name="Oval 31"/>
          <p:cNvSpPr>
            <a:spLocks noChangeArrowheads="1"/>
          </p:cNvSpPr>
          <p:nvPr/>
        </p:nvSpPr>
        <p:spPr bwMode="auto">
          <a:xfrm>
            <a:off x="7315200" y="34290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u="sng" dirty="0" smtClean="0"/>
              <a:t>CNAME</a:t>
            </a:r>
            <a:endParaRPr lang="en-US" altLang="en-US" sz="1400" u="sng" dirty="0"/>
          </a:p>
        </p:txBody>
      </p:sp>
      <p:sp>
        <p:nvSpPr>
          <p:cNvPr id="10263" name="Line 32"/>
          <p:cNvSpPr>
            <a:spLocks noChangeShapeType="1"/>
          </p:cNvSpPr>
          <p:nvPr/>
        </p:nvSpPr>
        <p:spPr bwMode="auto">
          <a:xfrm flipV="1">
            <a:off x="7086600" y="3581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1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1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1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1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1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1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1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1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1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5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50"/>
            <a:ext cx="8229600" cy="66675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11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458200" cy="13716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 What if we have a table: </a:t>
            </a:r>
          </a:p>
          <a:p>
            <a:pPr lvl="1" eaLnBrk="1" hangingPunct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S(</a:t>
            </a:r>
            <a:r>
              <a:rPr lang="en-US" altLang="en-US" u="sng" smtClean="0">
                <a:latin typeface="Courier New" panose="02070309020205020404" pitchFamily="49" charset="0"/>
              </a:rPr>
              <a:t>SID</a:t>
            </a:r>
            <a:r>
              <a:rPr lang="en-US" altLang="en-US" smtClean="0">
                <a:latin typeface="Courier New" panose="02070309020205020404" pitchFamily="49" charset="0"/>
              </a:rPr>
              <a:t>, SNAME, </a:t>
            </a:r>
            <a:r>
              <a:rPr lang="en-US" altLang="en-US" u="sng" smtClean="0">
                <a:latin typeface="Courier New" panose="02070309020205020404" pitchFamily="49" charset="0"/>
              </a:rPr>
              <a:t>CNAME</a:t>
            </a:r>
            <a:r>
              <a:rPr lang="en-US" altLang="en-US" smtClean="0">
                <a:latin typeface="Courier New" panose="02070309020205020404" pitchFamily="49" charset="0"/>
              </a:rPr>
              <a:t>, CREDITS, SEMESTER)</a:t>
            </a:r>
            <a:endParaRPr lang="en-US" altLang="en-US" sz="1600" b="1" smtClean="0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B57E17-66C9-42A4-8F98-4DBA9A346836}" type="slidenum">
              <a:rPr lang="en-US" altLang="en-US">
                <a:solidFill>
                  <a:srgbClr val="045C75"/>
                </a:solidFill>
              </a:rPr>
              <a:pPr eaLnBrk="1" hangingPunct="1"/>
              <a:t>7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02874" name="Group 122"/>
          <p:cNvGraphicFramePr>
            <a:graphicFrameLocks noGrp="1"/>
          </p:cNvGraphicFramePr>
          <p:nvPr/>
        </p:nvGraphicFramePr>
        <p:xfrm>
          <a:off x="990600" y="2819400"/>
          <a:ext cx="7086600" cy="13874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2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2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/>
          <a:lstStyle/>
          <a:p>
            <a:pPr eaLnBrk="1" hangingPunct="1"/>
            <a:r>
              <a:rPr lang="en-US" altLang="en-US" smtClean="0"/>
              <a:t>Inconsistency: Anomalies</a:t>
            </a:r>
          </a:p>
        </p:txBody>
      </p:sp>
      <p:sp>
        <p:nvSpPr>
          <p:cNvPr id="203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6482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Anomaly</a:t>
            </a:r>
          </a:p>
          <a:p>
            <a:pPr lvl="1" eaLnBrk="1" hangingPunct="1"/>
            <a:r>
              <a:rPr lang="en-US" altLang="en-US" smtClean="0"/>
              <a:t>Error or inconsistency that may occur when a user tries to update a table with </a:t>
            </a:r>
            <a:r>
              <a:rPr lang="en-US" altLang="en-US" i="1" smtClean="0"/>
              <a:t>redundant data</a:t>
            </a:r>
          </a:p>
          <a:p>
            <a:pPr lvl="1" eaLnBrk="1" hangingPunct="1"/>
            <a:r>
              <a:rPr lang="en-US" altLang="en-US" smtClean="0"/>
              <a:t>It is caused by redundancy</a:t>
            </a:r>
          </a:p>
          <a:p>
            <a:pPr eaLnBrk="1" hangingPunct="1"/>
            <a:r>
              <a:rPr lang="en-US" altLang="en-US" sz="2800" smtClean="0"/>
              <a:t>Three types of anomalies:</a:t>
            </a:r>
          </a:p>
          <a:p>
            <a:pPr lvl="1" eaLnBrk="1" hangingPunct="1"/>
            <a:r>
              <a:rPr lang="en-US" altLang="en-US" smtClean="0"/>
              <a:t>Insertion Anomaly: Inconsistency when </a:t>
            </a:r>
            <a:r>
              <a:rPr lang="en-US" altLang="en-US" b="1" smtClean="0"/>
              <a:t>adding</a:t>
            </a:r>
            <a:r>
              <a:rPr lang="en-US" altLang="en-US" smtClean="0">
                <a:solidFill>
                  <a:srgbClr val="CC0000"/>
                </a:solidFill>
              </a:rPr>
              <a:t> </a:t>
            </a:r>
            <a:r>
              <a:rPr lang="en-US" altLang="en-US" smtClean="0"/>
              <a:t>data</a:t>
            </a:r>
          </a:p>
          <a:p>
            <a:pPr lvl="1" eaLnBrk="1" hangingPunct="1"/>
            <a:r>
              <a:rPr lang="en-US" altLang="en-US" smtClean="0"/>
              <a:t>Deletion Anomaly: Inconsistency when </a:t>
            </a:r>
            <a:r>
              <a:rPr lang="en-US" altLang="en-US" b="1" smtClean="0"/>
              <a:t>removing</a:t>
            </a:r>
            <a:r>
              <a:rPr lang="en-US" altLang="en-US" smtClean="0"/>
              <a:t> data</a:t>
            </a:r>
          </a:p>
          <a:p>
            <a:pPr lvl="1" eaLnBrk="1" hangingPunct="1"/>
            <a:r>
              <a:rPr lang="en-US" altLang="en-US" smtClean="0"/>
              <a:t>Modification Anomaly: Inconsistency when </a:t>
            </a:r>
            <a:r>
              <a:rPr lang="en-US" altLang="en-US" b="1" smtClean="0"/>
              <a:t>updating</a:t>
            </a:r>
            <a:r>
              <a:rPr lang="en-US" altLang="en-US" smtClean="0"/>
              <a:t>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5DA12A2-BEA2-48A5-9431-EA91E7278DB6}" type="slidenum">
              <a:rPr lang="en-US" altLang="en-US">
                <a:solidFill>
                  <a:srgbClr val="045C75"/>
                </a:solidFill>
              </a:rPr>
              <a:pPr eaLnBrk="1" hangingPunct="1"/>
              <a:t>8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Insertion Anomaly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458200" cy="6096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400" smtClean="0"/>
              <a:t> Example:</a:t>
            </a:r>
          </a:p>
          <a:p>
            <a:pPr lvl="1" eaLnBrk="1" hangingPunct="1"/>
            <a:endParaRPr lang="en-US" altLang="en-US" sz="1400" b="1" smtClean="0">
              <a:solidFill>
                <a:schemeClr val="hlink"/>
              </a:solidFill>
            </a:endParaRPr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4D4EFE2-5FDE-4D16-B0F9-EB7847138AE2}" type="slidenum">
              <a:rPr lang="en-US" altLang="en-US">
                <a:solidFill>
                  <a:srgbClr val="045C75"/>
                </a:solidFill>
              </a:rPr>
              <a:pPr eaLnBrk="1" hangingPunct="1"/>
              <a:t>9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04836" name="Group 36"/>
          <p:cNvGraphicFramePr>
            <a:graphicFrameLocks noGrp="1"/>
          </p:cNvGraphicFramePr>
          <p:nvPr/>
        </p:nvGraphicFramePr>
        <p:xfrm>
          <a:off x="990600" y="2362200"/>
          <a:ext cx="7086600" cy="13874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349" name="Line 68"/>
          <p:cNvSpPr>
            <a:spLocks noChangeShapeType="1"/>
          </p:cNvSpPr>
          <p:nvPr/>
        </p:nvSpPr>
        <p:spPr bwMode="auto">
          <a:xfrm>
            <a:off x="1066800" y="2667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50" name="Line 69"/>
          <p:cNvSpPr>
            <a:spLocks noChangeShapeType="1"/>
          </p:cNvSpPr>
          <p:nvPr/>
        </p:nvSpPr>
        <p:spPr bwMode="auto">
          <a:xfrm>
            <a:off x="39624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70" name="Rectangle 70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7200" y="4114800"/>
            <a:ext cx="8458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35000"/>
              </a:spcBef>
              <a:buClr>
                <a:schemeClr val="tx2"/>
              </a:buClr>
              <a:buSzPct val="70000"/>
              <a:buFont typeface="Monotype Sorts"/>
              <a:buBlip>
                <a:blip r:embed="rId2"/>
              </a:buBlip>
            </a:pPr>
            <a:r>
              <a:rPr kumimoji="1" lang="en-US" altLang="en-US" sz="2400"/>
              <a:t>What if a new student comes? </a:t>
            </a:r>
          </a:p>
          <a:p>
            <a:pPr lvl="1" eaLnBrk="1" hangingPunct="1">
              <a:spcBef>
                <a:spcPct val="35000"/>
              </a:spcBef>
              <a:buSzPct val="70000"/>
              <a:buFontTx/>
              <a:buBlip>
                <a:blip r:embed="rId3"/>
              </a:buBlip>
            </a:pPr>
            <a:r>
              <a:rPr kumimoji="1" lang="en-US" altLang="en-US" sz="2000"/>
              <a:t>If he hasn’t taken any classes yet, he doesn’t exist!?</a:t>
            </a:r>
          </a:p>
        </p:txBody>
      </p:sp>
      <p:sp>
        <p:nvSpPr>
          <p:cNvPr id="13352" name="Rectangle 1"/>
          <p:cNvSpPr>
            <a:spLocks noChangeArrowheads="1"/>
          </p:cNvSpPr>
          <p:nvPr/>
        </p:nvSpPr>
        <p:spPr bwMode="auto">
          <a:xfrm>
            <a:off x="495300" y="5105400"/>
            <a:ext cx="7658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400"/>
              <a:t>Insertion anomaly – Insertion of one entity depends on information about another entity.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914400"/>
            <a:ext cx="8229600" cy="666750"/>
          </a:xfrm>
        </p:spPr>
        <p:txBody>
          <a:bodyPr/>
          <a:lstStyle/>
          <a:p>
            <a:pPr eaLnBrk="1" hangingPunct="1"/>
            <a:r>
              <a:rPr lang="en-US" altLang="en-US" smtClean="0"/>
              <a:t>Deletion Anomaly</a:t>
            </a:r>
          </a:p>
        </p:txBody>
      </p:sp>
      <p:sp>
        <p:nvSpPr>
          <p:cNvPr id="143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458200" cy="685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400" smtClean="0"/>
              <a:t> Example:</a:t>
            </a:r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6635700-2675-4D3A-AE17-2582B07D78DD}" type="slidenum">
              <a:rPr lang="en-US" altLang="en-US">
                <a:solidFill>
                  <a:srgbClr val="045C75"/>
                </a:solidFill>
              </a:rPr>
              <a:pPr eaLnBrk="1" hangingPunct="1"/>
              <a:t>10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05828" name="Group 4"/>
          <p:cNvGraphicFramePr>
            <a:graphicFrameLocks noGrp="1"/>
          </p:cNvGraphicFramePr>
          <p:nvPr/>
        </p:nvGraphicFramePr>
        <p:xfrm>
          <a:off x="990600" y="2362200"/>
          <a:ext cx="7086600" cy="13874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MIS341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73" name="Line 36"/>
          <p:cNvSpPr>
            <a:spLocks noChangeShapeType="1"/>
          </p:cNvSpPr>
          <p:nvPr/>
        </p:nvSpPr>
        <p:spPr bwMode="auto">
          <a:xfrm>
            <a:off x="1066800" y="2667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74" name="Line 37"/>
          <p:cNvSpPr>
            <a:spLocks noChangeShapeType="1"/>
          </p:cNvSpPr>
          <p:nvPr/>
        </p:nvSpPr>
        <p:spPr bwMode="auto">
          <a:xfrm>
            <a:off x="40386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862" name="Rectangle 38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7200" y="41148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35000"/>
              </a:spcBef>
              <a:buClr>
                <a:schemeClr val="tx2"/>
              </a:buClr>
              <a:buSzPct val="70000"/>
              <a:buFont typeface="Monotype Sorts"/>
              <a:buBlip>
                <a:blip r:embed="rId2"/>
              </a:buBlip>
            </a:pPr>
            <a:r>
              <a:rPr kumimoji="1" lang="en-US" altLang="en-US" sz="2400"/>
              <a:t>What if Dave graduated?</a:t>
            </a:r>
          </a:p>
          <a:p>
            <a:pPr lvl="1" eaLnBrk="1" hangingPunct="1">
              <a:spcBef>
                <a:spcPct val="35000"/>
              </a:spcBef>
              <a:buSzPct val="70000"/>
              <a:buFontTx/>
              <a:buBlip>
                <a:blip r:embed="rId3"/>
              </a:buBlip>
            </a:pPr>
            <a:r>
              <a:rPr kumimoji="1" lang="en-US" altLang="en-US" sz="2000"/>
              <a:t>MIS 341 no longer exist!</a:t>
            </a:r>
          </a:p>
        </p:txBody>
      </p:sp>
      <p:sp>
        <p:nvSpPr>
          <p:cNvPr id="14376" name="Rectangle 1"/>
          <p:cNvSpPr>
            <a:spLocks noChangeArrowheads="1"/>
          </p:cNvSpPr>
          <p:nvPr/>
        </p:nvSpPr>
        <p:spPr bwMode="auto">
          <a:xfrm>
            <a:off x="495300" y="5257800"/>
            <a:ext cx="777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2000"/>
              <a:t> Deletion anomaly – deletion of one entity results in deletion of another entity.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2" grpId="0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666750"/>
          </a:xfrm>
        </p:spPr>
        <p:txBody>
          <a:bodyPr/>
          <a:lstStyle/>
          <a:p>
            <a:pPr eaLnBrk="1" hangingPunct="1"/>
            <a:r>
              <a:rPr lang="en-US" altLang="en-US" smtClean="0"/>
              <a:t>Modification Anomaly</a:t>
            </a:r>
          </a:p>
        </p:txBody>
      </p:sp>
      <p:sp>
        <p:nvSpPr>
          <p:cNvPr id="15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458200" cy="6096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 Example:</a:t>
            </a:r>
            <a:endParaRPr lang="en-US" altLang="en-US" sz="1600" b="1" smtClean="0">
              <a:solidFill>
                <a:schemeClr val="hlink"/>
              </a:solidFill>
            </a:endParaRPr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C2C5B41-E698-44CE-B83C-B41757FC7D2E}" type="slidenum">
              <a:rPr lang="en-US" altLang="en-US">
                <a:solidFill>
                  <a:srgbClr val="045C75"/>
                </a:solidFill>
              </a:rPr>
              <a:pPr eaLnBrk="1" hangingPunct="1"/>
              <a:t>11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06852" name="Group 4"/>
          <p:cNvGraphicFramePr>
            <a:graphicFrameLocks noGrp="1"/>
          </p:cNvGraphicFramePr>
          <p:nvPr/>
        </p:nvGraphicFramePr>
        <p:xfrm>
          <a:off x="990600" y="2362200"/>
          <a:ext cx="7086600" cy="13874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97" name="Line 36"/>
          <p:cNvSpPr>
            <a:spLocks noChangeShapeType="1"/>
          </p:cNvSpPr>
          <p:nvPr/>
        </p:nvSpPr>
        <p:spPr bwMode="auto">
          <a:xfrm>
            <a:off x="1066800" y="2667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98" name="Line 37"/>
          <p:cNvSpPr>
            <a:spLocks noChangeShapeType="1"/>
          </p:cNvSpPr>
          <p:nvPr/>
        </p:nvSpPr>
        <p:spPr bwMode="auto">
          <a:xfrm>
            <a:off x="40386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6886" name="Rectangle 38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7200" y="4038600"/>
            <a:ext cx="8458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70000"/>
              <a:buFont typeface="Monotype Sorts"/>
              <a:buBlip>
                <a:blip r:embed="rId2"/>
              </a:buBlip>
            </a:pPr>
            <a:r>
              <a:rPr kumimoji="1" lang="en-US" altLang="en-US" sz="2400"/>
              <a:t>What if MIS361 is now 5 credits?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SzPct val="70000"/>
              <a:buFontTx/>
              <a:buBlip>
                <a:blip r:embed="rId3"/>
              </a:buBlip>
            </a:pPr>
            <a:r>
              <a:rPr kumimoji="1" lang="en-US" altLang="en-US" sz="2000"/>
              <a:t>How many rows do we need to update?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86" grpId="0" build="p" bldLvl="3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How to Avoid Anomaly?</a:t>
            </a:r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8382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400" smtClean="0"/>
              <a:t>Apparently, we should “split up” this big table into smaller tables</a:t>
            </a:r>
            <a:endParaRPr lang="en-US" altLang="en-US" sz="1600" b="1" smtClean="0">
              <a:solidFill>
                <a:schemeClr val="hlink"/>
              </a:solidFill>
            </a:endParaRPr>
          </a:p>
        </p:txBody>
      </p:sp>
      <p:sp>
        <p:nvSpPr>
          <p:cNvPr id="8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7B98EAE-5506-4AEA-A488-179A4FBF9670}" type="slidenum">
              <a:rPr lang="en-US" altLang="en-US">
                <a:solidFill>
                  <a:srgbClr val="045C75"/>
                </a:solidFill>
              </a:rPr>
              <a:pPr eaLnBrk="1" hangingPunct="1"/>
              <a:t>12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15044" name="Group 4"/>
          <p:cNvGraphicFramePr>
            <a:graphicFrameLocks noGrp="1"/>
          </p:cNvGraphicFramePr>
          <p:nvPr/>
        </p:nvGraphicFramePr>
        <p:xfrm>
          <a:off x="990600" y="2590800"/>
          <a:ext cx="7086600" cy="13874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to Avoid Anomaly? (cont.)</a:t>
            </a:r>
          </a:p>
        </p:txBody>
      </p:sp>
      <p:sp>
        <p:nvSpPr>
          <p:cNvPr id="21606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458200" cy="8382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Monotype Sorts"/>
              <a:buNone/>
            </a:pPr>
            <a:r>
              <a:rPr lang="en-US" altLang="en-US" sz="2800" dirty="0" smtClean="0"/>
              <a:t>How about ?</a:t>
            </a:r>
          </a:p>
          <a:p>
            <a:pPr lvl="1" eaLnBrk="1" hangingPunct="1"/>
            <a:endParaRPr lang="en-US" altLang="en-US" sz="1600" b="1" dirty="0" smtClean="0">
              <a:solidFill>
                <a:schemeClr val="hlink"/>
              </a:solidFill>
            </a:endParaRP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B6846E7-EB21-40CD-9499-4AF6258715AE}" type="slidenum">
              <a:rPr lang="en-US" altLang="en-US">
                <a:solidFill>
                  <a:srgbClr val="045C75"/>
                </a:solidFill>
              </a:rPr>
              <a:pPr eaLnBrk="1" hangingPunct="1"/>
              <a:t>13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16163" name="Group 1123"/>
          <p:cNvGraphicFramePr>
            <a:graphicFrameLocks noGrp="1"/>
          </p:cNvGraphicFramePr>
          <p:nvPr/>
        </p:nvGraphicFramePr>
        <p:xfrm>
          <a:off x="609600" y="3124200"/>
          <a:ext cx="3292475" cy="1387476"/>
        </p:xfrm>
        <a:graphic>
          <a:graphicData uri="http://schemas.openxmlformats.org/drawingml/2006/table">
            <a:tbl>
              <a:tblPr/>
              <a:tblGrid>
                <a:gridCol w="79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6162" name="Group 1122"/>
          <p:cNvGraphicFramePr>
            <a:graphicFrameLocks noGrp="1"/>
          </p:cNvGraphicFramePr>
          <p:nvPr/>
        </p:nvGraphicFramePr>
        <p:xfrm>
          <a:off x="6248400" y="3429000"/>
          <a:ext cx="2682875" cy="715964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7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1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MIS361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6159" name="Group 1119"/>
          <p:cNvGraphicFramePr>
            <a:graphicFrameLocks noGrp="1"/>
          </p:cNvGraphicFramePr>
          <p:nvPr/>
        </p:nvGraphicFramePr>
        <p:xfrm>
          <a:off x="4130675" y="3124200"/>
          <a:ext cx="2057400" cy="13874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7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Anomalies: Summary</a:t>
            </a:r>
          </a:p>
        </p:txBody>
      </p:sp>
      <p:sp>
        <p:nvSpPr>
          <p:cNvPr id="207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305800" cy="4114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Anomalies often exist because of redundant data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Redundant data, in turn, is often caused by bad design that puts </a:t>
            </a:r>
            <a:r>
              <a:rPr lang="en-US" altLang="en-US" sz="2400" i="1" smtClean="0"/>
              <a:t>irrelevant </a:t>
            </a:r>
            <a:r>
              <a:rPr lang="en-US" altLang="en-US" sz="2400" smtClean="0"/>
              <a:t>data together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Example: Student and class are two separate entities. It doesn’t make sense to put them into one table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Goal of Normalization: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Decompose relations with anomalies to produce smaller, well-structured (without anomalies) relations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How? By analyzing </a:t>
            </a:r>
            <a:r>
              <a:rPr lang="en-US" altLang="en-US" sz="2000" i="1" smtClean="0"/>
              <a:t>Functional Dependencies </a:t>
            </a:r>
            <a:endParaRPr lang="en-US" altLang="en-US" sz="1400" b="1" smtClean="0">
              <a:solidFill>
                <a:schemeClr val="hlin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509098A-17F9-4D3E-A9D0-2081083A9072}" type="slidenum">
              <a:rPr lang="en-US" altLang="en-US">
                <a:solidFill>
                  <a:srgbClr val="045C75"/>
                </a:solidFill>
              </a:rPr>
              <a:pPr eaLnBrk="1" hangingPunct="1"/>
              <a:t>14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 bldLvl="3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Semantics of the Relation Attributes – Guideline 1</a:t>
            </a:r>
          </a:p>
        </p:txBody>
      </p:sp>
      <p:sp>
        <p:nvSpPr>
          <p:cNvPr id="19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305800" cy="4114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Informally, each tuple in a relation should represent one entity or relationship instance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Attributes of different entities should not be mixed in the same relation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Only foreign keys should be used to refer to other entities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Entity and relationship attributes should be kept apart as much as possible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Bottom line: Design a schema that can be explained easily relation by relation. The semantics of attributes should be easy to interpret.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F5A5B7F-88C2-4AF1-844F-ED0FCB1A6B1E}" type="slidenum">
              <a:rPr lang="en-US" altLang="en-US">
                <a:solidFill>
                  <a:srgbClr val="045C75"/>
                </a:solidFill>
              </a:rPr>
              <a:pPr eaLnBrk="1" hangingPunct="1"/>
              <a:t>15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57250"/>
            <a:ext cx="8382000" cy="74295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Semantics of the Relation Attributes – Guidelines 2 and 3</a:t>
            </a:r>
          </a:p>
        </p:txBody>
      </p:sp>
      <p:sp>
        <p:nvSpPr>
          <p:cNvPr id="20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305800" cy="3048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Design a schema that does not suffer from the insertion, deletion, and update anomalies.  </a:t>
            </a:r>
            <a:endParaRPr lang="en-US" altLang="en-US" sz="2200" smtClean="0"/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Relations should be designed such that their tuples will have as few NULL values as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Attributes that are NULL frequently could be placed in separate relations (with the primary key)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90EBE25-2BB5-47E9-B963-8DE2748F68FD}" type="slidenum">
              <a:rPr lang="en-US" altLang="en-US">
                <a:solidFill>
                  <a:srgbClr val="045C75"/>
                </a:solidFill>
              </a:rPr>
              <a:pPr eaLnBrk="1" hangingPunct="1"/>
              <a:t>16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Functional Dependency (FD)</a:t>
            </a:r>
          </a:p>
        </p:txBody>
      </p:sp>
      <p:sp>
        <p:nvSpPr>
          <p:cNvPr id="200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876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smtClean="0"/>
              <a:t>FDs are used to specify formal measures of the “goodness” of relational designs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smtClean="0"/>
              <a:t>FDs and Keys are used to define </a:t>
            </a:r>
            <a:r>
              <a:rPr lang="en-US" altLang="en-US" sz="1800" b="1" smtClean="0"/>
              <a:t>normal forms </a:t>
            </a:r>
            <a:r>
              <a:rPr lang="en-US" altLang="en-US" sz="1800" smtClean="0"/>
              <a:t>for relations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smtClean="0"/>
              <a:t>FDs are constraints that are derived from the meaning and interrelationships of the data attributes. (i.e., A constraint between two attributes or two sets of attributes.</a:t>
            </a:r>
          </a:p>
          <a:p>
            <a:pPr marL="6667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800" smtClean="0"/>
              <a:t>First, notice that we are concerned about </a:t>
            </a:r>
            <a:r>
              <a:rPr lang="en-US" altLang="en-US" sz="1800" i="1" smtClean="0"/>
              <a:t>attributes</a:t>
            </a:r>
            <a:r>
              <a:rPr lang="en-US" altLang="en-US" sz="1800" smtClean="0"/>
              <a:t> now. </a:t>
            </a:r>
          </a:p>
          <a:p>
            <a:pPr marL="6667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800" smtClean="0"/>
              <a:t>No entities, not even tables! We are working inside ONE table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Definition: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Attribute B is </a:t>
            </a:r>
            <a:r>
              <a:rPr lang="en-US" altLang="en-US" i="1" smtClean="0"/>
              <a:t>functionally dependent</a:t>
            </a:r>
            <a:r>
              <a:rPr lang="en-US" altLang="en-US" smtClean="0"/>
              <a:t> on attribute A if for every instance of A, the value of A uniquely determines the value of B.    A </a:t>
            </a:r>
            <a:r>
              <a:rPr lang="en-US" altLang="en-US" smtClean="0">
                <a:sym typeface="Wingdings" panose="05000000000000000000" pitchFamily="2" charset="2"/>
              </a:rPr>
              <a:t>B</a:t>
            </a:r>
            <a:endParaRPr lang="en-US" alt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 set of attributes X functionally determines a set of attributes Y if the value of X determines a unique value for Y.     X </a:t>
            </a:r>
            <a:r>
              <a:rPr lang="en-US" altLang="en-US" smtClean="0">
                <a:sym typeface="Wingdings" panose="05000000000000000000" pitchFamily="2" charset="2"/>
              </a:rPr>
              <a:t>Y</a:t>
            </a:r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757D9FD-BDB1-4AAF-9E00-049545E1B3A2}" type="slidenum">
              <a:rPr lang="en-US" altLang="en-US">
                <a:solidFill>
                  <a:srgbClr val="045C75"/>
                </a:solidFill>
              </a:rPr>
              <a:pPr eaLnBrk="1" hangingPunct="1"/>
              <a:t>17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Functional Dependency (FD)</a:t>
            </a:r>
          </a:p>
        </p:txBody>
      </p:sp>
      <p:sp>
        <p:nvSpPr>
          <p:cNvPr id="200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876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X </a:t>
            </a:r>
            <a:r>
              <a:rPr lang="en-US" altLang="en-US" sz="2400" smtClean="0">
                <a:sym typeface="Wingdings" panose="05000000000000000000" pitchFamily="2" charset="2"/>
              </a:rPr>
              <a:t>Y holds if whenever two tuples have the same value for X, they must have the same value for 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For any two tuples t1 and t2 in any relation instance r(R):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 X </a:t>
            </a:r>
            <a:r>
              <a:rPr lang="en-US" altLang="en-US" sz="2400" smtClean="0">
                <a:sym typeface="Wingdings" panose="05000000000000000000" pitchFamily="2" charset="2"/>
              </a:rPr>
              <a:t> Y in R specifies a constraint on all relation instances r(R)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FDs are derived from the real-world constraints on the attributes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Examples: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>
                <a:sym typeface="Wingdings" panose="05000000000000000000" pitchFamily="2" charset="2"/>
              </a:rPr>
              <a:t>SSN  EmpName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>
                <a:sym typeface="Wingdings" panose="05000000000000000000" pitchFamily="2" charset="2"/>
              </a:rPr>
              <a:t>Proj_Num  {Proj_Name, Proj_Loc}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>
                <a:sym typeface="Wingdings" panose="05000000000000000000" pitchFamily="2" charset="2"/>
              </a:rPr>
              <a:t>{SSN, Proj_Num}  Hours_on_Proj</a:t>
            </a:r>
            <a:endParaRPr lang="en-US" altLang="en-US" sz="22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B16D561-7650-4257-AE42-DC616CF53935}" type="slidenum">
              <a:rPr lang="en-US" altLang="en-US">
                <a:solidFill>
                  <a:srgbClr val="045C75"/>
                </a:solidFill>
              </a:rPr>
              <a:pPr eaLnBrk="1" hangingPunct="1"/>
              <a:t>18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smtClean="0"/>
              <a:t>Functional Dependency (FD)</a:t>
            </a:r>
          </a:p>
        </p:txBody>
      </p:sp>
      <p:sp>
        <p:nvSpPr>
          <p:cNvPr id="200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876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An FD is a property of the attributes in the schema 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The constraint must hold on every relation instance r(R).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ym typeface="Wingdings" panose="05000000000000000000" pitchFamily="2" charset="2"/>
              </a:rPr>
              <a:t>If K is a key of R, then K functionally determines all attributes in R (since we never have two distinct tuples with t1[K] = t2[K])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844487-D3F6-4030-9A3A-EF862B6A146A}" type="slidenum">
              <a:rPr lang="en-US" altLang="en-US">
                <a:solidFill>
                  <a:srgbClr val="045C75"/>
                </a:solidFill>
              </a:rPr>
              <a:pPr eaLnBrk="1" hangingPunct="1"/>
              <a:t>19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E0041C8-09DD-41E2-BFBF-1492A9F8A544}" type="slidenum">
              <a:rPr lang="en-US" altLang="en-US">
                <a:solidFill>
                  <a:srgbClr val="045C75"/>
                </a:solidFill>
              </a:rPr>
              <a:pPr eaLnBrk="1" hangingPunct="1"/>
              <a:t>20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09992" name="Group 72"/>
          <p:cNvGraphicFramePr>
            <a:graphicFrameLocks noGrp="1"/>
          </p:cNvGraphicFramePr>
          <p:nvPr/>
        </p:nvGraphicFramePr>
        <p:xfrm>
          <a:off x="914400" y="1828800"/>
          <a:ext cx="7086600" cy="23923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87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MIS331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MIS341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MIS451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MIS121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MIS331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MIS331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630" name="Line 36"/>
          <p:cNvSpPr>
            <a:spLocks noChangeShapeType="1"/>
          </p:cNvSpPr>
          <p:nvPr/>
        </p:nvSpPr>
        <p:spPr bwMode="auto">
          <a:xfrm>
            <a:off x="990600" y="2133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631" name="Line 37"/>
          <p:cNvSpPr>
            <a:spLocks noChangeShapeType="1"/>
          </p:cNvSpPr>
          <p:nvPr/>
        </p:nvSpPr>
        <p:spPr bwMode="auto">
          <a:xfrm>
            <a:off x="3886200" y="213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9993" name="Text Box 73"/>
          <p:cNvSpPr txBox="1">
            <a:spLocks noChangeArrowheads="1"/>
          </p:cNvSpPr>
          <p:nvPr/>
        </p:nvSpPr>
        <p:spPr bwMode="auto">
          <a:xfrm>
            <a:off x="533400" y="4648200"/>
            <a:ext cx="7848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If we know </a:t>
            </a:r>
            <a:r>
              <a:rPr lang="en-US" altLang="en-US" sz="2400">
                <a:latin typeface="Courier New" panose="02070309020205020404" pitchFamily="49" charset="0"/>
              </a:rPr>
              <a:t>SID</a:t>
            </a:r>
            <a:r>
              <a:rPr lang="en-US" altLang="en-US" sz="2400"/>
              <a:t>, can we get one and ONLY one </a:t>
            </a:r>
            <a:r>
              <a:rPr lang="en-US" altLang="en-US" sz="2400">
                <a:latin typeface="Courier New" panose="02070309020205020404" pitchFamily="49" charset="0"/>
              </a:rPr>
              <a:t>sname</a:t>
            </a:r>
            <a:r>
              <a:rPr lang="en-US" altLang="en-US" sz="2400"/>
              <a:t>?   </a:t>
            </a:r>
            <a:r>
              <a:rPr lang="en-US" altLang="en-US" sz="2400">
                <a:latin typeface="Courier New" panose="02070309020205020404" pitchFamily="49" charset="0"/>
              </a:rPr>
              <a:t>SID</a:t>
            </a:r>
            <a:r>
              <a:rPr lang="en-US" altLang="en-US" sz="2400">
                <a:latin typeface="Courier New" panose="02070309020205020404" pitchFamily="49" charset="0"/>
                <a:sym typeface="Wingdings" panose="05000000000000000000" pitchFamily="2" charset="2"/>
              </a:rPr>
              <a:t>SNAME</a:t>
            </a:r>
          </a:p>
        </p:txBody>
      </p:sp>
      <p:sp>
        <p:nvSpPr>
          <p:cNvPr id="209995" name="Text Box 75"/>
          <p:cNvSpPr txBox="1">
            <a:spLocks noChangeArrowheads="1"/>
          </p:cNvSpPr>
          <p:nvPr/>
        </p:nvSpPr>
        <p:spPr bwMode="auto">
          <a:xfrm>
            <a:off x="533400" y="56388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ym typeface="Wingdings" panose="05000000000000000000" pitchFamily="2" charset="2"/>
              </a:rPr>
              <a:t>If we know </a:t>
            </a:r>
            <a:r>
              <a:rPr lang="en-US" altLang="en-US" sz="2400">
                <a:latin typeface="Courier New" panose="02070309020205020404" pitchFamily="49" charset="0"/>
                <a:sym typeface="Wingdings" panose="05000000000000000000" pitchFamily="2" charset="2"/>
              </a:rPr>
              <a:t>SID</a:t>
            </a:r>
            <a:r>
              <a:rPr lang="en-US" altLang="en-US" sz="2400">
                <a:sym typeface="Wingdings" panose="05000000000000000000" pitchFamily="2" charset="2"/>
              </a:rPr>
              <a:t>, can we get </a:t>
            </a:r>
            <a:r>
              <a:rPr lang="en-US" altLang="en-US" sz="2400"/>
              <a:t>one and ONLY </a:t>
            </a:r>
            <a:r>
              <a:rPr lang="en-US" altLang="en-US" sz="2400">
                <a:latin typeface="Courier New" panose="02070309020205020404" pitchFamily="49" charset="0"/>
                <a:sym typeface="Wingdings" panose="05000000000000000000" pitchFamily="2" charset="2"/>
              </a:rPr>
              <a:t>CNAME</a:t>
            </a:r>
            <a:r>
              <a:rPr lang="en-US" altLang="en-US" sz="2400">
                <a:sym typeface="Wingdings" panose="05000000000000000000" pitchFamily="2" charset="2"/>
              </a:rPr>
              <a:t>?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93" grpId="0" autoUpdateAnimBg="0"/>
      <p:bldP spid="20999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91EDA75-90F4-485C-91AE-71DBE565F5BF}" type="slidenum">
              <a:rPr lang="en-US" altLang="en-US">
                <a:solidFill>
                  <a:srgbClr val="045C75"/>
                </a:solidFill>
              </a:rPr>
              <a:pPr eaLnBrk="1" hangingPunct="1"/>
              <a:t>21</a:t>
            </a:fld>
            <a:endParaRPr lang="en-US" altLang="en-US">
              <a:solidFill>
                <a:srgbClr val="045C75"/>
              </a:solidFill>
            </a:endParaRPr>
          </a:p>
        </p:txBody>
      </p:sp>
      <p:graphicFrame>
        <p:nvGraphicFramePr>
          <p:cNvPr id="211002" name="Group 58"/>
          <p:cNvGraphicFramePr>
            <a:graphicFrameLocks noGrp="1"/>
          </p:cNvGraphicFramePr>
          <p:nvPr/>
        </p:nvGraphicFramePr>
        <p:xfrm>
          <a:off x="990600" y="1981200"/>
          <a:ext cx="7086600" cy="2392376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87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SID 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SNAME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CNAME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CREDITS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SEMESTER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MIS331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MIS341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MIS451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S32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John White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MIS121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S24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Ann Beech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MIS331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Fall 02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4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S16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Dave Ford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MIS331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35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35000"/>
                        </a:spcBef>
                        <a:buSzPct val="95000"/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35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Spring 01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654" name="Line 54"/>
          <p:cNvSpPr>
            <a:spLocks noChangeShapeType="1"/>
          </p:cNvSpPr>
          <p:nvPr/>
        </p:nvSpPr>
        <p:spPr bwMode="auto">
          <a:xfrm>
            <a:off x="1066800" y="2286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55" name="Line 55"/>
          <p:cNvSpPr>
            <a:spLocks noChangeShapeType="1"/>
          </p:cNvSpPr>
          <p:nvPr/>
        </p:nvSpPr>
        <p:spPr bwMode="auto">
          <a:xfrm>
            <a:off x="3962400" y="2286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1003" name="Text Box 59"/>
          <p:cNvSpPr txBox="1">
            <a:spLocks noChangeArrowheads="1"/>
          </p:cNvSpPr>
          <p:nvPr/>
        </p:nvSpPr>
        <p:spPr bwMode="auto">
          <a:xfrm>
            <a:off x="533400" y="48006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If we know </a:t>
            </a:r>
            <a:r>
              <a:rPr lang="en-US" altLang="en-US" sz="2400">
                <a:latin typeface="Courier New" panose="02070309020205020404" pitchFamily="49" charset="0"/>
              </a:rPr>
              <a:t>SID</a:t>
            </a:r>
            <a:r>
              <a:rPr lang="en-US" altLang="en-US" sz="2400"/>
              <a:t>, can we get a </a:t>
            </a:r>
            <a:r>
              <a:rPr lang="en-US" altLang="en-US" sz="2400" i="1"/>
              <a:t>unique  </a:t>
            </a:r>
            <a:r>
              <a:rPr lang="en-US" altLang="en-US" sz="2400">
                <a:latin typeface="Courier New" panose="02070309020205020404" pitchFamily="49" charset="0"/>
              </a:rPr>
              <a:t>sname</a:t>
            </a:r>
            <a:r>
              <a:rPr lang="en-US" altLang="en-US" sz="2400"/>
              <a:t>?   </a:t>
            </a:r>
            <a:endParaRPr lang="en-US" altLang="en-US" sz="2400">
              <a:latin typeface="Courier New" panose="02070309020205020404" pitchFamily="49" charset="0"/>
              <a:sym typeface="Wingdings" panose="05000000000000000000" pitchFamily="2" charset="2"/>
            </a:endParaRPr>
          </a:p>
        </p:txBody>
      </p:sp>
      <p:sp>
        <p:nvSpPr>
          <p:cNvPr id="211005" name="Text Box 61"/>
          <p:cNvSpPr txBox="1">
            <a:spLocks noChangeArrowheads="1"/>
          </p:cNvSpPr>
          <p:nvPr/>
        </p:nvSpPr>
        <p:spPr bwMode="auto">
          <a:xfrm>
            <a:off x="533400" y="5257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The answer is no. but </a:t>
            </a:r>
            <a:r>
              <a:rPr lang="en-US" altLang="en-US" sz="2400">
                <a:latin typeface="Courier New" panose="02070309020205020404" pitchFamily="49" charset="0"/>
              </a:rPr>
              <a:t>SID</a:t>
            </a:r>
            <a:r>
              <a:rPr lang="en-US" altLang="en-US" sz="2400">
                <a:latin typeface="Courier New" panose="02070309020205020404" pitchFamily="49" charset="0"/>
                <a:sym typeface="Wingdings" panose="05000000000000000000" pitchFamily="2" charset="2"/>
              </a:rPr>
              <a:t>SNAME</a:t>
            </a:r>
            <a:r>
              <a:rPr lang="en-US" altLang="en-US" sz="2400">
                <a:sym typeface="Wingdings" panose="05000000000000000000" pitchFamily="2" charset="2"/>
              </a:rPr>
              <a:t> still holds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03" grpId="0" autoUpdateAnimBg="0"/>
      <p:bldP spid="21100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781050"/>
            <a:ext cx="8229600" cy="7429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Another Example</a:t>
            </a:r>
          </a:p>
        </p:txBody>
      </p:sp>
      <p:sp>
        <p:nvSpPr>
          <p:cNvPr id="23961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7239000" cy="4114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dirty="0" smtClean="0"/>
              <a:t>Check whether these FDs hold:</a:t>
            </a:r>
          </a:p>
          <a:p>
            <a:pPr lvl="1" eaLnBrk="1" hangingPunct="1">
              <a:buFontTx/>
              <a:buNone/>
            </a:pPr>
            <a:endParaRPr lang="en-US" altLang="en-US" sz="2000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en-US" sz="2000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en-US" sz="2000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en-US" sz="2000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{S#}-&gt;{CITY}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{S#,P#}-&gt;{QTY}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{S#,P#}-&gt;{CITY, QTY}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{S#,P#}-&gt;{S#, P#, CITY, QTY}</a:t>
            </a:r>
          </a:p>
          <a:p>
            <a:pPr lvl="1"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{S#,P#,CITY,QTY}-&gt;{S#,P#,CITY,QTY}</a:t>
            </a:r>
          </a:p>
          <a:p>
            <a:pPr lvl="1" eaLnBrk="1" hangingPunct="1"/>
            <a:endParaRPr lang="en-US" altLang="en-US" sz="1400" b="1" dirty="0" smtClean="0">
              <a:solidFill>
                <a:schemeClr val="hlink"/>
              </a:solidFill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E493EE-7F90-4F4E-9323-D93EBFEACC62}" type="slidenum">
              <a:rPr lang="en-US" altLang="en-US">
                <a:solidFill>
                  <a:srgbClr val="045C75"/>
                </a:solidFill>
              </a:rPr>
              <a:pPr eaLnBrk="1" hangingPunct="1"/>
              <a:t>22</a:t>
            </a:fld>
            <a:endParaRPr lang="en-US" altLang="en-US">
              <a:solidFill>
                <a:srgbClr val="045C75"/>
              </a:solidFill>
            </a:endParaRPr>
          </a:p>
        </p:txBody>
      </p:sp>
      <p:sp>
        <p:nvSpPr>
          <p:cNvPr id="26629" name="Rectangle 1029"/>
          <p:cNvSpPr>
            <a:spLocks noChangeArrowheads="1"/>
          </p:cNvSpPr>
          <p:nvPr/>
        </p:nvSpPr>
        <p:spPr bwMode="auto">
          <a:xfrm>
            <a:off x="5562600" y="1752600"/>
            <a:ext cx="777875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u="sng"/>
              <a:t>S#</a:t>
            </a:r>
            <a:endParaRPr lang="en-US" altLang="en-US" sz="2400"/>
          </a:p>
        </p:txBody>
      </p:sp>
      <p:sp>
        <p:nvSpPr>
          <p:cNvPr id="26630" name="Rectangle 1030"/>
          <p:cNvSpPr>
            <a:spLocks noChangeArrowheads="1"/>
          </p:cNvSpPr>
          <p:nvPr/>
        </p:nvSpPr>
        <p:spPr bwMode="auto">
          <a:xfrm>
            <a:off x="5562600" y="2057400"/>
            <a:ext cx="762000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S1</a:t>
            </a:r>
          </a:p>
          <a:p>
            <a:pPr algn="ctr"/>
            <a:r>
              <a:rPr lang="en-US" altLang="en-US" sz="2000"/>
              <a:t>S1</a:t>
            </a:r>
          </a:p>
          <a:p>
            <a:pPr algn="ctr"/>
            <a:r>
              <a:rPr lang="en-US" altLang="en-US" sz="2000"/>
              <a:t>S2</a:t>
            </a:r>
          </a:p>
          <a:p>
            <a:pPr algn="ctr"/>
            <a:r>
              <a:rPr lang="en-US" altLang="en-US" sz="2000"/>
              <a:t>S2</a:t>
            </a:r>
          </a:p>
          <a:p>
            <a:pPr algn="ctr"/>
            <a:r>
              <a:rPr lang="en-US" altLang="en-US" sz="2000"/>
              <a:t>S3</a:t>
            </a:r>
          </a:p>
          <a:p>
            <a:pPr algn="ctr"/>
            <a:r>
              <a:rPr lang="en-US" altLang="en-US" sz="2000"/>
              <a:t>S4</a:t>
            </a:r>
          </a:p>
          <a:p>
            <a:pPr algn="ctr"/>
            <a:r>
              <a:rPr lang="en-US" altLang="en-US" sz="2000"/>
              <a:t>S4</a:t>
            </a:r>
          </a:p>
          <a:p>
            <a:pPr algn="ctr"/>
            <a:r>
              <a:rPr lang="en-US" altLang="en-US" sz="2000"/>
              <a:t>S4</a:t>
            </a:r>
            <a:endParaRPr lang="en-US" altLang="en-US" sz="2400"/>
          </a:p>
        </p:txBody>
      </p:sp>
      <p:sp>
        <p:nvSpPr>
          <p:cNvPr id="26631" name="Rectangle 1031"/>
          <p:cNvSpPr>
            <a:spLocks noChangeArrowheads="1"/>
          </p:cNvSpPr>
          <p:nvPr/>
        </p:nvSpPr>
        <p:spPr bwMode="auto">
          <a:xfrm>
            <a:off x="6324600" y="1752600"/>
            <a:ext cx="701675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u="sng"/>
              <a:t>P#</a:t>
            </a:r>
            <a:endParaRPr lang="en-US" altLang="en-US" sz="2400"/>
          </a:p>
        </p:txBody>
      </p:sp>
      <p:sp>
        <p:nvSpPr>
          <p:cNvPr id="26632" name="Rectangle 1032"/>
          <p:cNvSpPr>
            <a:spLocks noChangeArrowheads="1"/>
          </p:cNvSpPr>
          <p:nvPr/>
        </p:nvSpPr>
        <p:spPr bwMode="auto">
          <a:xfrm>
            <a:off x="6324600" y="2057400"/>
            <a:ext cx="701675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P1</a:t>
            </a:r>
          </a:p>
          <a:p>
            <a:pPr algn="ctr"/>
            <a:r>
              <a:rPr lang="en-US" altLang="en-US" sz="2000"/>
              <a:t>P2</a:t>
            </a:r>
          </a:p>
          <a:p>
            <a:pPr algn="ctr"/>
            <a:r>
              <a:rPr lang="en-US" altLang="en-US" sz="2000"/>
              <a:t>P1</a:t>
            </a:r>
          </a:p>
          <a:p>
            <a:pPr algn="ctr"/>
            <a:r>
              <a:rPr lang="en-US" altLang="en-US" sz="2000"/>
              <a:t>P2</a:t>
            </a:r>
          </a:p>
          <a:p>
            <a:pPr algn="ctr"/>
            <a:r>
              <a:rPr lang="en-US" altLang="en-US" sz="2000"/>
              <a:t>P2</a:t>
            </a:r>
          </a:p>
          <a:p>
            <a:pPr algn="ctr"/>
            <a:r>
              <a:rPr lang="en-US" altLang="en-US" sz="2000"/>
              <a:t>P2</a:t>
            </a:r>
          </a:p>
          <a:p>
            <a:pPr algn="ctr"/>
            <a:r>
              <a:rPr lang="en-US" altLang="en-US" sz="2000"/>
              <a:t>P4</a:t>
            </a:r>
          </a:p>
          <a:p>
            <a:pPr algn="ctr"/>
            <a:r>
              <a:rPr lang="en-US" altLang="en-US" sz="2000"/>
              <a:t>P5</a:t>
            </a:r>
            <a:endParaRPr lang="en-US" altLang="en-US" sz="2400"/>
          </a:p>
        </p:txBody>
      </p:sp>
      <p:sp>
        <p:nvSpPr>
          <p:cNvPr id="26633" name="Rectangle 1033"/>
          <p:cNvSpPr>
            <a:spLocks noChangeArrowheads="1"/>
          </p:cNvSpPr>
          <p:nvPr/>
        </p:nvSpPr>
        <p:spPr bwMode="auto">
          <a:xfrm>
            <a:off x="8213725" y="1752600"/>
            <a:ext cx="777875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QTY</a:t>
            </a:r>
            <a:endParaRPr lang="en-US" altLang="en-US" sz="2400"/>
          </a:p>
        </p:txBody>
      </p:sp>
      <p:sp>
        <p:nvSpPr>
          <p:cNvPr id="26634" name="Rectangle 1034"/>
          <p:cNvSpPr>
            <a:spLocks noChangeArrowheads="1"/>
          </p:cNvSpPr>
          <p:nvPr/>
        </p:nvSpPr>
        <p:spPr bwMode="auto">
          <a:xfrm>
            <a:off x="8213725" y="2057400"/>
            <a:ext cx="777875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100</a:t>
            </a:r>
          </a:p>
          <a:p>
            <a:pPr algn="ctr"/>
            <a:r>
              <a:rPr lang="en-US" altLang="en-US" sz="2000"/>
              <a:t>100</a:t>
            </a:r>
          </a:p>
          <a:p>
            <a:pPr algn="ctr"/>
            <a:r>
              <a:rPr lang="en-US" altLang="en-US" sz="2000"/>
              <a:t>200</a:t>
            </a:r>
          </a:p>
          <a:p>
            <a:pPr algn="ctr"/>
            <a:r>
              <a:rPr lang="en-US" altLang="en-US" sz="2000"/>
              <a:t>200</a:t>
            </a:r>
          </a:p>
          <a:p>
            <a:pPr algn="ctr"/>
            <a:r>
              <a:rPr lang="en-US" altLang="en-US" sz="2000"/>
              <a:t>300</a:t>
            </a:r>
          </a:p>
          <a:p>
            <a:pPr algn="ctr"/>
            <a:r>
              <a:rPr lang="en-US" altLang="en-US" sz="2000"/>
              <a:t>400</a:t>
            </a:r>
          </a:p>
          <a:p>
            <a:pPr algn="ctr"/>
            <a:r>
              <a:rPr lang="en-US" altLang="en-US" sz="2000"/>
              <a:t>400</a:t>
            </a:r>
          </a:p>
          <a:p>
            <a:pPr algn="ctr"/>
            <a:r>
              <a:rPr lang="en-US" altLang="en-US" sz="2000"/>
              <a:t>400</a:t>
            </a:r>
            <a:endParaRPr lang="en-US" altLang="en-US" sz="2400"/>
          </a:p>
        </p:txBody>
      </p:sp>
      <p:sp>
        <p:nvSpPr>
          <p:cNvPr id="26635" name="Rectangle 1035"/>
          <p:cNvSpPr>
            <a:spLocks noChangeArrowheads="1"/>
          </p:cNvSpPr>
          <p:nvPr/>
        </p:nvSpPr>
        <p:spPr bwMode="auto">
          <a:xfrm>
            <a:off x="7010400" y="1752600"/>
            <a:ext cx="1219200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CITY</a:t>
            </a:r>
            <a:endParaRPr lang="en-US" altLang="en-US" sz="2400"/>
          </a:p>
        </p:txBody>
      </p:sp>
      <p:sp>
        <p:nvSpPr>
          <p:cNvPr id="26636" name="Rectangle 1036"/>
          <p:cNvSpPr>
            <a:spLocks noChangeArrowheads="1"/>
          </p:cNvSpPr>
          <p:nvPr/>
        </p:nvSpPr>
        <p:spPr bwMode="auto">
          <a:xfrm>
            <a:off x="7010400" y="2057400"/>
            <a:ext cx="1219200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London</a:t>
            </a:r>
          </a:p>
          <a:p>
            <a:r>
              <a:rPr lang="en-US" altLang="en-US" sz="2000"/>
              <a:t>London</a:t>
            </a:r>
          </a:p>
          <a:p>
            <a:r>
              <a:rPr lang="en-US" altLang="en-US" sz="2000"/>
              <a:t>Paris</a:t>
            </a:r>
          </a:p>
          <a:p>
            <a:r>
              <a:rPr lang="en-US" altLang="en-US" sz="2000"/>
              <a:t>Paris</a:t>
            </a:r>
          </a:p>
          <a:p>
            <a:r>
              <a:rPr lang="en-US" altLang="en-US" sz="2000"/>
              <a:t>Paris</a:t>
            </a:r>
          </a:p>
          <a:p>
            <a:r>
              <a:rPr lang="en-US" altLang="en-US" sz="2000"/>
              <a:t>London</a:t>
            </a:r>
          </a:p>
          <a:p>
            <a:r>
              <a:rPr lang="en-US" altLang="en-US" sz="2000"/>
              <a:t>London</a:t>
            </a:r>
          </a:p>
          <a:p>
            <a:r>
              <a:rPr lang="en-US" altLang="en-US" sz="2000"/>
              <a:t>London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66675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More About Functional Dependency</a:t>
            </a:r>
          </a:p>
        </p:txBody>
      </p:sp>
      <p:sp>
        <p:nvSpPr>
          <p:cNvPr id="2129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458200" cy="25146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800" smtClean="0"/>
              <a:t>Again: Definition</a:t>
            </a:r>
          </a:p>
          <a:p>
            <a:pPr lvl="1" eaLnBrk="1" hangingPunct="1"/>
            <a:r>
              <a:rPr lang="en-US" altLang="en-US" smtClean="0"/>
              <a:t>A set of attributes Y are functionally dependent on X (X </a:t>
            </a:r>
            <a:r>
              <a:rPr lang="en-US" altLang="en-US" smtClean="0">
                <a:sym typeface="Wingdings" panose="05000000000000000000" pitchFamily="2" charset="2"/>
              </a:rPr>
              <a:t> Y, read “X functionally determines Y”), </a:t>
            </a:r>
            <a:r>
              <a:rPr lang="en-US" altLang="en-US" smtClean="0"/>
              <a:t>if:</a:t>
            </a:r>
          </a:p>
          <a:p>
            <a:pPr lvl="2" eaLnBrk="1" hangingPunct="1"/>
            <a:r>
              <a:rPr lang="en-US" altLang="en-US" sz="2000" smtClean="0"/>
              <a:t>Each X value is only associate with precisely ONE Y value</a:t>
            </a:r>
          </a:p>
          <a:p>
            <a:pPr lvl="2" eaLnBrk="1" hangingPunct="1"/>
            <a:r>
              <a:rPr lang="en-US" altLang="en-US" sz="2000" smtClean="0"/>
              <a:t>In other words, whenever two tuples have the same value for X, they must also have the same value for Y</a:t>
            </a:r>
            <a:endParaRPr lang="en-US" altLang="en-US" sz="1200" b="1" smtClean="0">
              <a:solidFill>
                <a:schemeClr val="hlink"/>
              </a:solidFill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161DF1B-AE03-43F4-AD4B-0364B2434267}" type="slidenum">
              <a:rPr lang="en-US" altLang="en-US">
                <a:solidFill>
                  <a:srgbClr val="045C75"/>
                </a:solidFill>
              </a:rPr>
              <a:pPr eaLnBrk="1" hangingPunct="1"/>
              <a:t>23</a:t>
            </a:fld>
            <a:endParaRPr lang="en-US" altLang="en-US">
              <a:solidFill>
                <a:srgbClr val="045C75"/>
              </a:solidFill>
            </a:endParaRPr>
          </a:p>
        </p:txBody>
      </p:sp>
      <p:sp>
        <p:nvSpPr>
          <p:cNvPr id="27653" name="Text Box 58"/>
          <p:cNvSpPr txBox="1">
            <a:spLocks noChangeArrowheads="1"/>
          </p:cNvSpPr>
          <p:nvPr/>
        </p:nvSpPr>
        <p:spPr bwMode="auto">
          <a:xfrm>
            <a:off x="3962400" y="4648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X  </a:t>
            </a:r>
            <a:r>
              <a:rPr lang="en-US" altLang="en-US" sz="2400">
                <a:latin typeface="Tahoma" panose="020B0604030504040204" pitchFamily="34" charset="0"/>
                <a:sym typeface="Wingdings" panose="05000000000000000000" pitchFamily="2" charset="2"/>
              </a:rPr>
              <a:t>  Y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13051" name="Line 59"/>
          <p:cNvSpPr>
            <a:spLocks noChangeShapeType="1"/>
          </p:cNvSpPr>
          <p:nvPr/>
        </p:nvSpPr>
        <p:spPr bwMode="auto">
          <a:xfrm>
            <a:off x="4114800" y="5105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3052" name="Text Box 60"/>
          <p:cNvSpPr txBox="1">
            <a:spLocks noChangeArrowheads="1"/>
          </p:cNvSpPr>
          <p:nvPr/>
        </p:nvSpPr>
        <p:spPr bwMode="auto">
          <a:xfrm>
            <a:off x="3124200" y="57912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Determinant </a:t>
            </a:r>
          </a:p>
        </p:txBody>
      </p:sp>
      <p:sp>
        <p:nvSpPr>
          <p:cNvPr id="213053" name="Line 61"/>
          <p:cNvSpPr>
            <a:spLocks noChangeShapeType="1"/>
          </p:cNvSpPr>
          <p:nvPr/>
        </p:nvSpPr>
        <p:spPr bwMode="auto">
          <a:xfrm>
            <a:off x="5029200" y="51054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3054" name="Text Box 62"/>
          <p:cNvSpPr txBox="1">
            <a:spLocks noChangeArrowheads="1"/>
          </p:cNvSpPr>
          <p:nvPr/>
        </p:nvSpPr>
        <p:spPr bwMode="auto">
          <a:xfrm>
            <a:off x="5334000" y="57912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Dependent  </a:t>
            </a:r>
          </a:p>
        </p:txBody>
      </p:sp>
      <p:sp>
        <p:nvSpPr>
          <p:cNvPr id="213056" name="Text Box 64"/>
          <p:cNvSpPr txBox="1">
            <a:spLocks noChangeArrowheads="1"/>
          </p:cNvSpPr>
          <p:nvPr/>
        </p:nvSpPr>
        <p:spPr bwMode="auto">
          <a:xfrm>
            <a:off x="1143000" y="4495800"/>
            <a:ext cx="32004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Left Hand Side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(LHS)</a:t>
            </a:r>
          </a:p>
        </p:txBody>
      </p:sp>
      <p:sp>
        <p:nvSpPr>
          <p:cNvPr id="213057" name="Text Box 65"/>
          <p:cNvSpPr txBox="1">
            <a:spLocks noChangeArrowheads="1"/>
          </p:cNvSpPr>
          <p:nvPr/>
        </p:nvSpPr>
        <p:spPr bwMode="auto">
          <a:xfrm>
            <a:off x="4724400" y="4495800"/>
            <a:ext cx="32004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Right Hand Side </a:t>
            </a:r>
          </a:p>
          <a:p>
            <a:pPr algn="r" eaLnBrk="1" hangingPunct="1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(RHS)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52" grpId="0" autoUpdateAnimBg="0"/>
      <p:bldP spid="213054" grpId="0" autoUpdateAnimBg="0"/>
      <p:bldP spid="213056" grpId="0" animBg="1" autoUpdateAnimBg="0"/>
      <p:bldP spid="213057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Trivial Functional Dependency</a:t>
            </a:r>
          </a:p>
        </p:txBody>
      </p:sp>
      <p:sp>
        <p:nvSpPr>
          <p:cNvPr id="286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05800" cy="20574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A FD is trivial if and only if the RHS (dependent) is a subset of the LHS (determinant)</a:t>
            </a:r>
          </a:p>
          <a:p>
            <a:pPr eaLnBrk="1" hangingPunct="1"/>
            <a:r>
              <a:rPr lang="en-US" altLang="en-US" sz="2800" smtClean="0"/>
              <a:t>In other words, if everything on RHS already appeared on LHS</a:t>
            </a:r>
            <a:endParaRPr lang="en-US" altLang="en-US" sz="2400" b="1" smtClean="0">
              <a:solidFill>
                <a:schemeClr val="hlink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4516DC9-CF2F-4E7B-B12C-42E74C9B1901}" type="slidenum">
              <a:rPr lang="en-US" altLang="en-US">
                <a:solidFill>
                  <a:srgbClr val="045C75"/>
                </a:solidFill>
              </a:rPr>
              <a:pPr eaLnBrk="1" hangingPunct="1"/>
              <a:t>24</a:t>
            </a:fld>
            <a:endParaRPr lang="en-US" altLang="en-US">
              <a:solidFill>
                <a:srgbClr val="045C75"/>
              </a:solidFill>
            </a:endParaRPr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1143000" y="4419600"/>
            <a:ext cx="7543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Courier New" panose="02070309020205020404" pitchFamily="49" charset="0"/>
              </a:rPr>
              <a:t>S</a:t>
            </a:r>
            <a:r>
              <a:rPr lang="en-US" altLang="en-US" sz="2000">
                <a:latin typeface="Courier New" panose="02070309020205020404" pitchFamily="49" charset="0"/>
                <a:sym typeface="Wingdings" panose="05000000000000000000" pitchFamily="2" charset="2"/>
              </a:rPr>
              <a:t>city  		S,Pcity	 S,Pqty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Courier New" panose="02070309020205020404" pitchFamily="49" charset="0"/>
                <a:sym typeface="Wingdings" panose="05000000000000000000" pitchFamily="2" charset="2"/>
              </a:rPr>
              <a:t>S,Pcity,qty 	S,PS,P,city,qty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Courier New" panose="02070309020205020404" pitchFamily="49" charset="0"/>
                <a:sym typeface="Wingdings" panose="05000000000000000000" pitchFamily="2" charset="2"/>
              </a:rPr>
              <a:t>S,P,city,qty  S,P,city,qty</a:t>
            </a:r>
            <a:endParaRPr lang="en-US" altLang="en-US" sz="2000">
              <a:latin typeface="Courier New" panose="02070309020205020404" pitchFamily="49" charset="0"/>
            </a:endParaRPr>
          </a:p>
        </p:txBody>
      </p:sp>
      <p:sp>
        <p:nvSpPr>
          <p:cNvPr id="214021" name="Line 5"/>
          <p:cNvSpPr>
            <a:spLocks noChangeShapeType="1"/>
          </p:cNvSpPr>
          <p:nvPr/>
        </p:nvSpPr>
        <p:spPr bwMode="auto">
          <a:xfrm>
            <a:off x="1219200" y="5715000"/>
            <a:ext cx="42672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/>
          <a:lstStyle/>
          <a:p>
            <a:pPr eaLnBrk="1" hangingPunct="1"/>
            <a:r>
              <a:rPr lang="en-US" altLang="en-US" smtClean="0"/>
              <a:t>Armstrong’s Axioms</a:t>
            </a:r>
          </a:p>
        </p:txBody>
      </p:sp>
      <p:sp>
        <p:nvSpPr>
          <p:cNvPr id="2181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382000" cy="47244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1600" u="sng" dirty="0" smtClean="0"/>
              <a:t>Inference Rules for FDs</a:t>
            </a:r>
            <a:r>
              <a:rPr lang="en-US" altLang="en-US" sz="1600" dirty="0" smtClean="0"/>
              <a:t>: Given a set of FDs F, we can infer additional FDs that hold whenever the FDs in F hold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1600" dirty="0" smtClean="0"/>
              <a:t>Armstrong’s Inference Rules:</a:t>
            </a:r>
          </a:p>
          <a:p>
            <a:pPr marL="641033" lvl="1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1600" dirty="0" smtClean="0"/>
              <a:t>IR1: Reflexivity</a:t>
            </a:r>
            <a:r>
              <a:rPr lang="en-US" altLang="en-US" sz="1600" dirty="0"/>
              <a:t>: </a:t>
            </a:r>
          </a:p>
          <a:p>
            <a:pPr marL="914717" lvl="2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dirty="0"/>
              <a:t>If B is a subset of A, then A </a:t>
            </a:r>
            <a:r>
              <a:rPr lang="en-US" altLang="en-US" sz="1600" dirty="0">
                <a:sym typeface="Wingdings" pitchFamily="2" charset="2"/>
              </a:rPr>
              <a:t> B </a:t>
            </a:r>
          </a:p>
          <a:p>
            <a:pPr marL="914717" lvl="2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dirty="0"/>
              <a:t>Of course. However, it is </a:t>
            </a:r>
            <a:r>
              <a:rPr lang="en-US" altLang="en-US" sz="1600" i="1" dirty="0"/>
              <a:t>trivial</a:t>
            </a:r>
          </a:p>
          <a:p>
            <a:pPr marL="641033" lvl="1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1600" dirty="0" smtClean="0"/>
              <a:t>IR2: Augmentation:</a:t>
            </a:r>
            <a:endParaRPr lang="en-US" altLang="en-US" sz="1600" dirty="0"/>
          </a:p>
          <a:p>
            <a:pPr marL="914717" lvl="2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dirty="0"/>
              <a:t>If A </a:t>
            </a:r>
            <a:r>
              <a:rPr lang="en-US" altLang="en-US" sz="1600" dirty="0">
                <a:sym typeface="Wingdings" pitchFamily="2" charset="2"/>
              </a:rPr>
              <a:t> B, then AC  BC</a:t>
            </a:r>
          </a:p>
          <a:p>
            <a:pPr marL="914717" lvl="2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dirty="0">
                <a:sym typeface="Wingdings" pitchFamily="2" charset="2"/>
              </a:rPr>
              <a:t>Example: if </a:t>
            </a:r>
            <a:r>
              <a:rPr lang="en-US" altLang="en-US" sz="1600" dirty="0" err="1">
                <a:sym typeface="Wingdings" pitchFamily="2" charset="2"/>
              </a:rPr>
              <a:t>sid</a:t>
            </a:r>
            <a:r>
              <a:rPr lang="en-US" altLang="en-US" sz="1600" dirty="0">
                <a:sym typeface="Wingdings" pitchFamily="2" charset="2"/>
              </a:rPr>
              <a:t>  </a:t>
            </a:r>
            <a:r>
              <a:rPr lang="en-US" altLang="en-US" sz="1600" dirty="0" err="1">
                <a:sym typeface="Wingdings" pitchFamily="2" charset="2"/>
              </a:rPr>
              <a:t>sname</a:t>
            </a:r>
            <a:r>
              <a:rPr lang="en-US" altLang="en-US" sz="1600" dirty="0">
                <a:sym typeface="Wingdings" pitchFamily="2" charset="2"/>
              </a:rPr>
              <a:t>, then </a:t>
            </a:r>
            <a:r>
              <a:rPr lang="en-US" altLang="en-US" sz="1600" dirty="0" err="1">
                <a:sym typeface="Wingdings" pitchFamily="2" charset="2"/>
              </a:rPr>
              <a:t>sid</a:t>
            </a:r>
            <a:r>
              <a:rPr lang="en-US" altLang="en-US" sz="1600" dirty="0">
                <a:sym typeface="Wingdings" pitchFamily="2" charset="2"/>
              </a:rPr>
              <a:t>, age  </a:t>
            </a:r>
            <a:r>
              <a:rPr lang="en-US" altLang="en-US" sz="1600" dirty="0" err="1">
                <a:sym typeface="Wingdings" pitchFamily="2" charset="2"/>
              </a:rPr>
              <a:t>sname</a:t>
            </a:r>
            <a:r>
              <a:rPr lang="en-US" altLang="en-US" sz="1600" dirty="0">
                <a:sym typeface="Wingdings" pitchFamily="2" charset="2"/>
              </a:rPr>
              <a:t>, age</a:t>
            </a:r>
          </a:p>
          <a:p>
            <a:pPr marL="641033" lvl="1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1600" dirty="0" smtClean="0">
                <a:sym typeface="Wingdings" pitchFamily="2" charset="2"/>
              </a:rPr>
              <a:t>IR3: Transitivity</a:t>
            </a:r>
            <a:r>
              <a:rPr lang="en-US" altLang="en-US" sz="1600" dirty="0">
                <a:sym typeface="Wingdings" pitchFamily="2" charset="2"/>
              </a:rPr>
              <a:t>:</a:t>
            </a:r>
          </a:p>
          <a:p>
            <a:pPr marL="914717" lvl="2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dirty="0">
                <a:sym typeface="Wingdings" pitchFamily="2" charset="2"/>
              </a:rPr>
              <a:t>If A  B and B  C, then A  C </a:t>
            </a:r>
          </a:p>
          <a:p>
            <a:pPr marL="914717" lvl="2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dirty="0">
                <a:sym typeface="Wingdings" pitchFamily="2" charset="2"/>
              </a:rPr>
              <a:t>Example: if </a:t>
            </a:r>
            <a:r>
              <a:rPr lang="en-US" altLang="en-US" sz="1600" dirty="0" err="1">
                <a:sym typeface="Wingdings" pitchFamily="2" charset="2"/>
              </a:rPr>
              <a:t>sid</a:t>
            </a:r>
            <a:r>
              <a:rPr lang="en-US" altLang="en-US" sz="1600" dirty="0">
                <a:sym typeface="Wingdings" pitchFamily="2" charset="2"/>
              </a:rPr>
              <a:t>  gender and gender  softball/baseball, then </a:t>
            </a:r>
            <a:r>
              <a:rPr lang="en-US" altLang="en-US" sz="1600" dirty="0" err="1">
                <a:sym typeface="Wingdings" pitchFamily="2" charset="2"/>
              </a:rPr>
              <a:t>sid</a:t>
            </a:r>
            <a:r>
              <a:rPr lang="en-US" altLang="en-US" sz="1600" dirty="0">
                <a:sym typeface="Wingdings" pitchFamily="2" charset="2"/>
              </a:rPr>
              <a:t>  </a:t>
            </a:r>
            <a:r>
              <a:rPr lang="en-US" altLang="en-US" sz="1600" dirty="0" smtClean="0">
                <a:sym typeface="Wingdings" pitchFamily="2" charset="2"/>
              </a:rPr>
              <a:t>softball/baseball</a:t>
            </a:r>
          </a:p>
          <a:p>
            <a:pPr marL="273367" indent="-246888" eaLnBrk="1" fontAlgn="auto" hangingPunct="1">
              <a:lnSpc>
                <a:spcPct val="12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1600" b="1" dirty="0" smtClean="0">
                <a:sym typeface="Wingdings" pitchFamily="2" charset="2"/>
              </a:rPr>
              <a:t>IR1, IR2, IR3 form a sound and complete set of inference rules</a:t>
            </a:r>
            <a:endParaRPr lang="en-US" alt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0418E5F-DEA1-4626-AF52-39CA7A471A7C}" type="slidenum">
              <a:rPr lang="en-US" altLang="en-US">
                <a:solidFill>
                  <a:srgbClr val="045C75"/>
                </a:solidFill>
              </a:rPr>
              <a:pPr eaLnBrk="1" hangingPunct="1"/>
              <a:t>25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8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8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Armstrong’s Axioms (cont.)</a:t>
            </a:r>
            <a:endParaRPr lang="en-US" altLang="en-US" sz="2800" smtClean="0"/>
          </a:p>
        </p:txBody>
      </p:sp>
      <p:sp>
        <p:nvSpPr>
          <p:cNvPr id="2191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8229600" cy="4114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It is </a:t>
            </a:r>
            <a:r>
              <a:rPr lang="en-US" altLang="en-US" sz="2800" i="1" smtClean="0"/>
              <a:t>complete</a:t>
            </a:r>
            <a:endParaRPr lang="en-US" altLang="en-US" sz="2800" smtClean="0"/>
          </a:p>
          <a:p>
            <a:pPr lvl="1" eaLnBrk="1" hangingPunct="1"/>
            <a:r>
              <a:rPr lang="en-US" altLang="en-US" smtClean="0">
                <a:sym typeface="Wingdings" panose="05000000000000000000" pitchFamily="2" charset="2"/>
              </a:rPr>
              <a:t>Using the three rules above, we can find</a:t>
            </a:r>
            <a:r>
              <a:rPr lang="en-US" altLang="en-US" i="1" smtClean="0">
                <a:sym typeface="Wingdings" panose="05000000000000000000" pitchFamily="2" charset="2"/>
              </a:rPr>
              <a:t> all </a:t>
            </a:r>
            <a:r>
              <a:rPr lang="en-US" altLang="en-US" smtClean="0">
                <a:sym typeface="Wingdings" panose="05000000000000000000" pitchFamily="2" charset="2"/>
              </a:rPr>
              <a:t>FDs </a:t>
            </a:r>
          </a:p>
          <a:p>
            <a:pPr lvl="1" eaLnBrk="1" hangingPunct="1"/>
            <a:endParaRPr lang="en-US" alt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z="2800" smtClean="0">
                <a:sym typeface="Wingdings" panose="05000000000000000000" pitchFamily="2" charset="2"/>
              </a:rPr>
              <a:t>It is </a:t>
            </a:r>
            <a:r>
              <a:rPr lang="en-US" altLang="en-US" sz="2800" i="1" smtClean="0">
                <a:sym typeface="Wingdings" panose="05000000000000000000" pitchFamily="2" charset="2"/>
              </a:rPr>
              <a:t>sound</a:t>
            </a:r>
          </a:p>
          <a:p>
            <a:pPr lvl="1" eaLnBrk="1" hangingPunct="1"/>
            <a:r>
              <a:rPr lang="en-US" altLang="en-US" smtClean="0">
                <a:sym typeface="Wingdings" panose="05000000000000000000" pitchFamily="2" charset="2"/>
              </a:rPr>
              <a:t>No additional FDs can be derived</a:t>
            </a:r>
          </a:p>
          <a:p>
            <a:pPr lvl="1" eaLnBrk="1" hangingPunct="1"/>
            <a:endParaRPr lang="en-US" alt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en-US" sz="2800" smtClean="0">
                <a:sym typeface="Wingdings" panose="05000000000000000000" pitchFamily="2" charset="2"/>
              </a:rPr>
              <a:t>In short, Armstrong’s axioms are rules</a:t>
            </a:r>
          </a:p>
          <a:p>
            <a:pPr lvl="1" eaLnBrk="1" hangingPunct="1"/>
            <a:endParaRPr lang="en-US" altLang="en-US" i="1" smtClean="0"/>
          </a:p>
          <a:p>
            <a:pPr eaLnBrk="1" hangingPunct="1"/>
            <a:endParaRPr lang="en-US" altLang="en-US" sz="2400" b="1" smtClean="0">
              <a:solidFill>
                <a:schemeClr val="hlin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6FF9AB3-6EDC-48FD-B672-36D526BDD269}" type="slidenum">
              <a:rPr lang="en-US" altLang="en-US">
                <a:solidFill>
                  <a:srgbClr val="045C75"/>
                </a:solidFill>
              </a:rPr>
              <a:pPr eaLnBrk="1" hangingPunct="1"/>
              <a:t>26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Armstrong’s Axioms (cont.)</a:t>
            </a:r>
          </a:p>
        </p:txBody>
      </p:sp>
      <p:sp>
        <p:nvSpPr>
          <p:cNvPr id="2201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8382000" cy="27432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Based on Armstrong’s Axioms, the following can be derived: </a:t>
            </a:r>
          </a:p>
          <a:p>
            <a:pPr lvl="1" eaLnBrk="1" hangingPunct="1"/>
            <a:r>
              <a:rPr lang="en-US" altLang="en-US" smtClean="0"/>
              <a:t>Decomposition: If A </a:t>
            </a:r>
            <a:r>
              <a:rPr lang="en-US" altLang="en-US" smtClean="0">
                <a:sym typeface="Wingdings" panose="05000000000000000000" pitchFamily="2" charset="2"/>
              </a:rPr>
              <a:t> BC, then A  B and A  C</a:t>
            </a:r>
          </a:p>
          <a:p>
            <a:pPr lvl="1" eaLnBrk="1" hangingPunct="1"/>
            <a:r>
              <a:rPr lang="en-US" altLang="en-US" smtClean="0"/>
              <a:t>Union: If A </a:t>
            </a:r>
            <a:r>
              <a:rPr lang="en-US" altLang="en-US" smtClean="0">
                <a:sym typeface="Wingdings" panose="05000000000000000000" pitchFamily="2" charset="2"/>
              </a:rPr>
              <a:t> B, and A  C, then A  BC</a:t>
            </a:r>
          </a:p>
          <a:p>
            <a:pPr lvl="1" eaLnBrk="1" hangingPunct="1"/>
            <a:r>
              <a:rPr lang="en-US" altLang="en-US" smtClean="0">
                <a:sym typeface="Wingdings" panose="05000000000000000000" pitchFamily="2" charset="2"/>
              </a:rPr>
              <a:t>Composition: If A B and C  D, then AC BD</a:t>
            </a:r>
          </a:p>
          <a:p>
            <a:pPr lvl="1"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0A53B54-0E4F-4BE5-9558-01CF856BD349}" type="slidenum">
              <a:rPr lang="en-US" altLang="en-US">
                <a:solidFill>
                  <a:srgbClr val="045C75"/>
                </a:solidFill>
              </a:rPr>
              <a:pPr eaLnBrk="1" hangingPunct="1"/>
              <a:t>27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/>
          <a:lstStyle/>
          <a:p>
            <a:pPr eaLnBrk="1" hangingPunct="1"/>
            <a:r>
              <a:rPr lang="en-US" altLang="en-US" smtClean="0"/>
              <a:t>Normalization of Relations</a:t>
            </a:r>
          </a:p>
        </p:txBody>
      </p:sp>
      <p:sp>
        <p:nvSpPr>
          <p:cNvPr id="2201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82000" cy="47244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Normalization</a:t>
            </a:r>
          </a:p>
          <a:p>
            <a:pPr lvl="1" eaLnBrk="1" hangingPunct="1"/>
            <a:r>
              <a:rPr lang="en-US" altLang="en-US" smtClean="0"/>
              <a:t>The process of decomposing unsatisfactory “bad” relations by breaking up their attributes into smaller relations</a:t>
            </a:r>
          </a:p>
          <a:p>
            <a:pPr eaLnBrk="1" hangingPunct="1"/>
            <a:r>
              <a:rPr lang="en-US" altLang="en-US" sz="2800" smtClean="0"/>
              <a:t>Normal Form</a:t>
            </a:r>
          </a:p>
          <a:p>
            <a:pPr lvl="1" eaLnBrk="1" hangingPunct="1"/>
            <a:r>
              <a:rPr lang="en-US" altLang="en-US" smtClean="0"/>
              <a:t>Condition using keys and FDs of a relation to certify whether a relation schema is in a particular normal form.</a:t>
            </a:r>
          </a:p>
          <a:p>
            <a:pPr eaLnBrk="1" hangingPunct="1"/>
            <a:r>
              <a:rPr lang="en-US" altLang="en-US" smtClean="0">
                <a:sym typeface="Wingdings" panose="05000000000000000000" pitchFamily="2" charset="2"/>
              </a:rPr>
              <a:t>Denormalization</a:t>
            </a:r>
          </a:p>
          <a:p>
            <a:pPr lvl="1" eaLnBrk="1" hangingPunct="1"/>
            <a:r>
              <a:rPr lang="en-US" altLang="en-US" smtClean="0">
                <a:sym typeface="Wingdings" panose="05000000000000000000" pitchFamily="2" charset="2"/>
              </a:rPr>
              <a:t>The process of storing the join of higher normal form relations as a base relation – which is in a lower normal form.</a:t>
            </a:r>
          </a:p>
          <a:p>
            <a:pPr lvl="1"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6CBBC34-94FE-4CBB-BA04-E56822DB51A2}" type="slidenum">
              <a:rPr lang="en-US" altLang="en-US">
                <a:solidFill>
                  <a:srgbClr val="045C75"/>
                </a:solidFill>
              </a:rPr>
              <a:pPr eaLnBrk="1" hangingPunct="1"/>
              <a:t>28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 bldLvl="2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Normalization of Relations</a:t>
            </a:r>
          </a:p>
        </p:txBody>
      </p:sp>
      <p:sp>
        <p:nvSpPr>
          <p:cNvPr id="33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8382000" cy="4191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2NF, 3NF, BCNF based on keys and FDs of a relation schema</a:t>
            </a:r>
          </a:p>
          <a:p>
            <a:pPr eaLnBrk="1" hangingPunct="1"/>
            <a:r>
              <a:rPr lang="en-US" altLang="en-US" sz="2800" smtClean="0"/>
              <a:t>4NF based on keys, multi-valued dependencies(MVDs)</a:t>
            </a:r>
          </a:p>
          <a:p>
            <a:pPr eaLnBrk="1" hangingPunct="1"/>
            <a:r>
              <a:rPr lang="en-US" altLang="en-US" sz="2800" smtClean="0"/>
              <a:t>5NF based on keys, join dependencies (JDs)</a:t>
            </a:r>
          </a:p>
          <a:p>
            <a:pPr eaLnBrk="1" hangingPunct="1"/>
            <a:endParaRPr lang="en-US" altLang="en-US" smtClean="0">
              <a:sym typeface="Wingdings" panose="05000000000000000000" pitchFamily="2" charset="2"/>
            </a:endParaRPr>
          </a:p>
          <a:p>
            <a:pPr lvl="1"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D9115E9-0CBD-43EA-8EC8-35B85FDCF8B0}" type="slidenum">
              <a:rPr lang="en-US" altLang="en-US">
                <a:solidFill>
                  <a:srgbClr val="045C75"/>
                </a:solidFill>
              </a:rPr>
              <a:pPr eaLnBrk="1" hangingPunct="1"/>
              <a:t>29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305800" cy="6278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Normal Forms</a:t>
            </a: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1219200" y="1676400"/>
            <a:ext cx="73152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b="1" dirty="0" smtClean="0">
                <a:cs typeface="+mn-cs"/>
              </a:rPr>
              <a:t>First Normal Form (1NF)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Table’s primary key is defined.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All non-key attributes show functional dependency on the primary key components.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Table does not contain multi-valued attributes.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All attribute values must be atomic.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 relation is in First Normal Form if and only if all columns are single valued.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305800" cy="6278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INVOICE Table in </a:t>
            </a:r>
            <a:r>
              <a:rPr lang="en-US" altLang="en-US" sz="3600" b="1" dirty="0" smtClean="0"/>
              <a:t>0NF</a:t>
            </a:r>
            <a:endParaRPr lang="en-US" altLang="en-US" sz="3600" b="1" dirty="0"/>
          </a:p>
        </p:txBody>
      </p:sp>
      <p:sp>
        <p:nvSpPr>
          <p:cNvPr id="35843" name="Text Box 473"/>
          <p:cNvSpPr txBox="1">
            <a:spLocks noChangeArrowheads="1"/>
          </p:cNvSpPr>
          <p:nvPr/>
        </p:nvSpPr>
        <p:spPr bwMode="auto">
          <a:xfrm>
            <a:off x="762000" y="5286375"/>
            <a:ext cx="7543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Table contains multi-valued attributes. Therefore, this table is not  in 1NF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 relation/table is in 1NF if every attribute in every row can contain only one single (atomic) value.</a:t>
            </a:r>
          </a:p>
        </p:txBody>
      </p:sp>
      <p:pic>
        <p:nvPicPr>
          <p:cNvPr id="35844" name="Picture 2" descr="C:\Users\Bo\Google Drive\BoHomePage\homepage\teaching\courses\csc263\contents\lectures\func_dep_norm_forms\zero_nf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776413"/>
            <a:ext cx="634365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305800" cy="6278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INVOICE Table in 1NF</a:t>
            </a:r>
          </a:p>
        </p:txBody>
      </p:sp>
      <p:grpSp>
        <p:nvGrpSpPr>
          <p:cNvPr id="36867" name="Group 471"/>
          <p:cNvGrpSpPr>
            <a:grpSpLocks/>
          </p:cNvGrpSpPr>
          <p:nvPr/>
        </p:nvGrpSpPr>
        <p:grpSpPr bwMode="auto">
          <a:xfrm>
            <a:off x="1066800" y="1676400"/>
            <a:ext cx="7543800" cy="2971800"/>
            <a:chOff x="-3" y="-3"/>
            <a:chExt cx="3281" cy="4668"/>
          </a:xfrm>
        </p:grpSpPr>
        <p:grpSp>
          <p:nvGrpSpPr>
            <p:cNvPr id="36869" name="Group 469"/>
            <p:cNvGrpSpPr>
              <a:grpSpLocks/>
            </p:cNvGrpSpPr>
            <p:nvPr/>
          </p:nvGrpSpPr>
          <p:grpSpPr bwMode="auto">
            <a:xfrm>
              <a:off x="0" y="0"/>
              <a:ext cx="3275" cy="4662"/>
              <a:chOff x="0" y="0"/>
              <a:chExt cx="3275" cy="4662"/>
            </a:xfrm>
          </p:grpSpPr>
          <p:grpSp>
            <p:nvGrpSpPr>
              <p:cNvPr id="36871" name="Group 326"/>
              <p:cNvGrpSpPr>
                <a:grpSpLocks/>
              </p:cNvGrpSpPr>
              <p:nvPr/>
            </p:nvGrpSpPr>
            <p:grpSpPr bwMode="auto">
              <a:xfrm>
                <a:off x="0" y="0"/>
                <a:ext cx="335" cy="518"/>
                <a:chOff x="0" y="0"/>
                <a:chExt cx="335" cy="518"/>
              </a:xfrm>
            </p:grpSpPr>
            <p:sp>
              <p:nvSpPr>
                <p:cNvPr id="37085" name="Rectangle 25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000" b="1" u="sng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InvNo</a:t>
                  </a:r>
                  <a:endParaRPr lang="en-US" altLang="en-US" sz="1000" u="sng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000" u="sng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86" name="Rectangle 32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2" name="Group 328"/>
              <p:cNvGrpSpPr>
                <a:grpSpLocks/>
              </p:cNvGrpSpPr>
              <p:nvPr/>
            </p:nvGrpSpPr>
            <p:grpSpPr bwMode="auto">
              <a:xfrm>
                <a:off x="335" y="0"/>
                <a:ext cx="402" cy="518"/>
                <a:chOff x="335" y="0"/>
                <a:chExt cx="402" cy="518"/>
              </a:xfrm>
            </p:grpSpPr>
            <p:sp>
              <p:nvSpPr>
                <p:cNvPr id="37083" name="Rectangle 254"/>
                <p:cNvSpPr>
                  <a:spLocks noChangeArrowheads="1"/>
                </p:cNvSpPr>
                <p:nvPr/>
              </p:nvSpPr>
              <p:spPr bwMode="auto">
                <a:xfrm>
                  <a:off x="378" y="0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InvDate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84" name="Rectangle 327"/>
                <p:cNvSpPr>
                  <a:spLocks noChangeArrowheads="1"/>
                </p:cNvSpPr>
                <p:nvPr/>
              </p:nvSpPr>
              <p:spPr bwMode="auto">
                <a:xfrm>
                  <a:off x="335" y="0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3" name="Group 330"/>
              <p:cNvGrpSpPr>
                <a:grpSpLocks/>
              </p:cNvGrpSpPr>
              <p:nvPr/>
            </p:nvGrpSpPr>
            <p:grpSpPr bwMode="auto">
              <a:xfrm>
                <a:off x="737" y="0"/>
                <a:ext cx="399" cy="518"/>
                <a:chOff x="737" y="0"/>
                <a:chExt cx="399" cy="518"/>
              </a:xfrm>
            </p:grpSpPr>
            <p:sp>
              <p:nvSpPr>
                <p:cNvPr id="37081" name="Rectangle 255"/>
                <p:cNvSpPr>
                  <a:spLocks noChangeArrowheads="1"/>
                </p:cNvSpPr>
                <p:nvPr/>
              </p:nvSpPr>
              <p:spPr bwMode="auto">
                <a:xfrm>
                  <a:off x="780" y="0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CustNo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82" name="Rectangle 329"/>
                <p:cNvSpPr>
                  <a:spLocks noChangeArrowheads="1"/>
                </p:cNvSpPr>
                <p:nvPr/>
              </p:nvSpPr>
              <p:spPr bwMode="auto">
                <a:xfrm>
                  <a:off x="737" y="0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4" name="Group 332"/>
              <p:cNvGrpSpPr>
                <a:grpSpLocks/>
              </p:cNvGrpSpPr>
              <p:nvPr/>
            </p:nvGrpSpPr>
            <p:grpSpPr bwMode="auto">
              <a:xfrm>
                <a:off x="1136" y="0"/>
                <a:ext cx="405" cy="518"/>
                <a:chOff x="1136" y="0"/>
                <a:chExt cx="405" cy="518"/>
              </a:xfrm>
            </p:grpSpPr>
            <p:sp>
              <p:nvSpPr>
                <p:cNvPr id="37079" name="Rectangle 256"/>
                <p:cNvSpPr>
                  <a:spLocks noChangeArrowheads="1"/>
                </p:cNvSpPr>
                <p:nvPr/>
              </p:nvSpPr>
              <p:spPr bwMode="auto">
                <a:xfrm>
                  <a:off x="1179" y="0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 u="sng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ItemNo</a:t>
                  </a:r>
                  <a:endParaRPr lang="en-US" altLang="en-US" sz="1200" u="sng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u="sng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80" name="Rectangle 331"/>
                <p:cNvSpPr>
                  <a:spLocks noChangeArrowheads="1"/>
                </p:cNvSpPr>
                <p:nvPr/>
              </p:nvSpPr>
              <p:spPr bwMode="auto">
                <a:xfrm>
                  <a:off x="1136" y="0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5" name="Group 334"/>
              <p:cNvGrpSpPr>
                <a:grpSpLocks/>
              </p:cNvGrpSpPr>
              <p:nvPr/>
            </p:nvGrpSpPr>
            <p:grpSpPr bwMode="auto">
              <a:xfrm>
                <a:off x="1541" y="0"/>
                <a:ext cx="518" cy="518"/>
                <a:chOff x="1541" y="0"/>
                <a:chExt cx="518" cy="518"/>
              </a:xfrm>
            </p:grpSpPr>
            <p:sp>
              <p:nvSpPr>
                <p:cNvPr id="37077" name="Rectangle 257"/>
                <p:cNvSpPr>
                  <a:spLocks noChangeArrowheads="1"/>
                </p:cNvSpPr>
                <p:nvPr/>
              </p:nvSpPr>
              <p:spPr bwMode="auto">
                <a:xfrm>
                  <a:off x="1584" y="0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CustName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78" name="Rectangle 333"/>
                <p:cNvSpPr>
                  <a:spLocks noChangeArrowheads="1"/>
                </p:cNvSpPr>
                <p:nvPr/>
              </p:nvSpPr>
              <p:spPr bwMode="auto">
                <a:xfrm>
                  <a:off x="1541" y="0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6" name="Group 336"/>
              <p:cNvGrpSpPr>
                <a:grpSpLocks/>
              </p:cNvGrpSpPr>
              <p:nvPr/>
            </p:nvGrpSpPr>
            <p:grpSpPr bwMode="auto">
              <a:xfrm>
                <a:off x="2059" y="0"/>
                <a:ext cx="473" cy="518"/>
                <a:chOff x="2059" y="0"/>
                <a:chExt cx="473" cy="518"/>
              </a:xfrm>
            </p:grpSpPr>
            <p:sp>
              <p:nvSpPr>
                <p:cNvPr id="37075" name="Rectangle 258"/>
                <p:cNvSpPr>
                  <a:spLocks noChangeArrowheads="1"/>
                </p:cNvSpPr>
                <p:nvPr/>
              </p:nvSpPr>
              <p:spPr bwMode="auto">
                <a:xfrm>
                  <a:off x="2102" y="0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ItemName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76" name="Rectangle 335"/>
                <p:cNvSpPr>
                  <a:spLocks noChangeArrowheads="1"/>
                </p:cNvSpPr>
                <p:nvPr/>
              </p:nvSpPr>
              <p:spPr bwMode="auto">
                <a:xfrm>
                  <a:off x="2059" y="0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7" name="Group 338"/>
              <p:cNvGrpSpPr>
                <a:grpSpLocks/>
              </p:cNvGrpSpPr>
              <p:nvPr/>
            </p:nvGrpSpPr>
            <p:grpSpPr bwMode="auto">
              <a:xfrm>
                <a:off x="2532" y="0"/>
                <a:ext cx="452" cy="518"/>
                <a:chOff x="2532" y="0"/>
                <a:chExt cx="452" cy="518"/>
              </a:xfrm>
            </p:grpSpPr>
            <p:sp>
              <p:nvSpPr>
                <p:cNvPr id="37073" name="Rectangle 259"/>
                <p:cNvSpPr>
                  <a:spLocks noChangeArrowheads="1"/>
                </p:cNvSpPr>
                <p:nvPr/>
              </p:nvSpPr>
              <p:spPr bwMode="auto">
                <a:xfrm>
                  <a:off x="2575" y="0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ItemPrice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74" name="Rectangle 337"/>
                <p:cNvSpPr>
                  <a:spLocks noChangeArrowheads="1"/>
                </p:cNvSpPr>
                <p:nvPr/>
              </p:nvSpPr>
              <p:spPr bwMode="auto">
                <a:xfrm>
                  <a:off x="2532" y="0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8" name="Group 340"/>
              <p:cNvGrpSpPr>
                <a:grpSpLocks/>
              </p:cNvGrpSpPr>
              <p:nvPr/>
            </p:nvGrpSpPr>
            <p:grpSpPr bwMode="auto">
              <a:xfrm>
                <a:off x="2984" y="0"/>
                <a:ext cx="291" cy="518"/>
                <a:chOff x="2984" y="0"/>
                <a:chExt cx="291" cy="518"/>
              </a:xfrm>
            </p:grpSpPr>
            <p:sp>
              <p:nvSpPr>
                <p:cNvPr id="37071" name="Rectangle 260"/>
                <p:cNvSpPr>
                  <a:spLocks noChangeArrowheads="1"/>
                </p:cNvSpPr>
                <p:nvPr/>
              </p:nvSpPr>
              <p:spPr bwMode="auto">
                <a:xfrm>
                  <a:off x="3027" y="0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Qty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72" name="Rectangle 339"/>
                <p:cNvSpPr>
                  <a:spLocks noChangeArrowheads="1"/>
                </p:cNvSpPr>
                <p:nvPr/>
              </p:nvSpPr>
              <p:spPr bwMode="auto">
                <a:xfrm>
                  <a:off x="2984" y="0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9" name="Group 342"/>
              <p:cNvGrpSpPr>
                <a:grpSpLocks/>
              </p:cNvGrpSpPr>
              <p:nvPr/>
            </p:nvGrpSpPr>
            <p:grpSpPr bwMode="auto">
              <a:xfrm>
                <a:off x="0" y="518"/>
                <a:ext cx="335" cy="518"/>
                <a:chOff x="0" y="518"/>
                <a:chExt cx="335" cy="518"/>
              </a:xfrm>
            </p:grpSpPr>
            <p:sp>
              <p:nvSpPr>
                <p:cNvPr id="37069" name="Rectangle 261"/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1001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70" name="Rectangle 341"/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0" name="Group 344"/>
              <p:cNvGrpSpPr>
                <a:grpSpLocks/>
              </p:cNvGrpSpPr>
              <p:nvPr/>
            </p:nvGrpSpPr>
            <p:grpSpPr bwMode="auto">
              <a:xfrm>
                <a:off x="335" y="518"/>
                <a:ext cx="402" cy="518"/>
                <a:chOff x="335" y="518"/>
                <a:chExt cx="402" cy="518"/>
              </a:xfrm>
            </p:grpSpPr>
            <p:sp>
              <p:nvSpPr>
                <p:cNvPr id="37067" name="Rectangle 262"/>
                <p:cNvSpPr>
                  <a:spLocks noChangeArrowheads="1"/>
                </p:cNvSpPr>
                <p:nvPr/>
              </p:nvSpPr>
              <p:spPr bwMode="auto">
                <a:xfrm>
                  <a:off x="378" y="518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04/14/00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68" name="Rectangle 343"/>
                <p:cNvSpPr>
                  <a:spLocks noChangeArrowheads="1"/>
                </p:cNvSpPr>
                <p:nvPr/>
              </p:nvSpPr>
              <p:spPr bwMode="auto">
                <a:xfrm>
                  <a:off x="335" y="518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1" name="Group 346"/>
              <p:cNvGrpSpPr>
                <a:grpSpLocks/>
              </p:cNvGrpSpPr>
              <p:nvPr/>
            </p:nvGrpSpPr>
            <p:grpSpPr bwMode="auto">
              <a:xfrm>
                <a:off x="737" y="518"/>
                <a:ext cx="399" cy="518"/>
                <a:chOff x="737" y="518"/>
                <a:chExt cx="399" cy="518"/>
              </a:xfrm>
            </p:grpSpPr>
            <p:sp>
              <p:nvSpPr>
                <p:cNvPr id="37065" name="Rectangle 263"/>
                <p:cNvSpPr>
                  <a:spLocks noChangeArrowheads="1"/>
                </p:cNvSpPr>
                <p:nvPr/>
              </p:nvSpPr>
              <p:spPr bwMode="auto">
                <a:xfrm>
                  <a:off x="780" y="518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212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66" name="Rectangle 345"/>
                <p:cNvSpPr>
                  <a:spLocks noChangeArrowheads="1"/>
                </p:cNvSpPr>
                <p:nvPr/>
              </p:nvSpPr>
              <p:spPr bwMode="auto">
                <a:xfrm>
                  <a:off x="737" y="518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2" name="Group 348"/>
              <p:cNvGrpSpPr>
                <a:grpSpLocks/>
              </p:cNvGrpSpPr>
              <p:nvPr/>
            </p:nvGrpSpPr>
            <p:grpSpPr bwMode="auto">
              <a:xfrm>
                <a:off x="1136" y="518"/>
                <a:ext cx="405" cy="518"/>
                <a:chOff x="1136" y="518"/>
                <a:chExt cx="405" cy="518"/>
              </a:xfrm>
            </p:grpSpPr>
            <p:sp>
              <p:nvSpPr>
                <p:cNvPr id="37063" name="Rectangle 264"/>
                <p:cNvSpPr>
                  <a:spLocks noChangeArrowheads="1"/>
                </p:cNvSpPr>
                <p:nvPr/>
              </p:nvSpPr>
              <p:spPr bwMode="auto">
                <a:xfrm>
                  <a:off x="1179" y="518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64" name="Rectangle 347"/>
                <p:cNvSpPr>
                  <a:spLocks noChangeArrowheads="1"/>
                </p:cNvSpPr>
                <p:nvPr/>
              </p:nvSpPr>
              <p:spPr bwMode="auto">
                <a:xfrm>
                  <a:off x="1136" y="518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3" name="Group 350"/>
              <p:cNvGrpSpPr>
                <a:grpSpLocks/>
              </p:cNvGrpSpPr>
              <p:nvPr/>
            </p:nvGrpSpPr>
            <p:grpSpPr bwMode="auto">
              <a:xfrm>
                <a:off x="1541" y="518"/>
                <a:ext cx="518" cy="518"/>
                <a:chOff x="1541" y="518"/>
                <a:chExt cx="518" cy="518"/>
              </a:xfrm>
            </p:grpSpPr>
            <p:sp>
              <p:nvSpPr>
                <p:cNvPr id="37061" name="Rectangle 265"/>
                <p:cNvSpPr>
                  <a:spLocks noChangeArrowheads="1"/>
                </p:cNvSpPr>
                <p:nvPr/>
              </p:nvSpPr>
              <p:spPr bwMode="auto">
                <a:xfrm>
                  <a:off x="1584" y="518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Starks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62" name="Rectangle 349"/>
                <p:cNvSpPr>
                  <a:spLocks noChangeArrowheads="1"/>
                </p:cNvSpPr>
                <p:nvPr/>
              </p:nvSpPr>
              <p:spPr bwMode="auto">
                <a:xfrm>
                  <a:off x="1541" y="518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4" name="Group 352"/>
              <p:cNvGrpSpPr>
                <a:grpSpLocks/>
              </p:cNvGrpSpPr>
              <p:nvPr/>
            </p:nvGrpSpPr>
            <p:grpSpPr bwMode="auto">
              <a:xfrm>
                <a:off x="2059" y="518"/>
                <a:ext cx="473" cy="518"/>
                <a:chOff x="2059" y="518"/>
                <a:chExt cx="473" cy="518"/>
              </a:xfrm>
            </p:grpSpPr>
            <p:sp>
              <p:nvSpPr>
                <p:cNvPr id="37059" name="Rectangle 266"/>
                <p:cNvSpPr>
                  <a:spLocks noChangeArrowheads="1"/>
                </p:cNvSpPr>
                <p:nvPr/>
              </p:nvSpPr>
              <p:spPr bwMode="auto">
                <a:xfrm>
                  <a:off x="2102" y="518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Screw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60" name="Rectangle 351"/>
                <p:cNvSpPr>
                  <a:spLocks noChangeArrowheads="1"/>
                </p:cNvSpPr>
                <p:nvPr/>
              </p:nvSpPr>
              <p:spPr bwMode="auto">
                <a:xfrm>
                  <a:off x="2059" y="518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5" name="Group 354"/>
              <p:cNvGrpSpPr>
                <a:grpSpLocks/>
              </p:cNvGrpSpPr>
              <p:nvPr/>
            </p:nvGrpSpPr>
            <p:grpSpPr bwMode="auto">
              <a:xfrm>
                <a:off x="2532" y="518"/>
                <a:ext cx="452" cy="518"/>
                <a:chOff x="2532" y="518"/>
                <a:chExt cx="452" cy="518"/>
              </a:xfrm>
            </p:grpSpPr>
            <p:sp>
              <p:nvSpPr>
                <p:cNvPr id="37057" name="Rectangle 267"/>
                <p:cNvSpPr>
                  <a:spLocks noChangeArrowheads="1"/>
                </p:cNvSpPr>
                <p:nvPr/>
              </p:nvSpPr>
              <p:spPr bwMode="auto">
                <a:xfrm>
                  <a:off x="2575" y="518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$2.25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8" name="Rectangle 353"/>
                <p:cNvSpPr>
                  <a:spLocks noChangeArrowheads="1"/>
                </p:cNvSpPr>
                <p:nvPr/>
              </p:nvSpPr>
              <p:spPr bwMode="auto">
                <a:xfrm>
                  <a:off x="2532" y="518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6" name="Group 356"/>
              <p:cNvGrpSpPr>
                <a:grpSpLocks/>
              </p:cNvGrpSpPr>
              <p:nvPr/>
            </p:nvGrpSpPr>
            <p:grpSpPr bwMode="auto">
              <a:xfrm>
                <a:off x="2984" y="518"/>
                <a:ext cx="291" cy="518"/>
                <a:chOff x="2984" y="518"/>
                <a:chExt cx="291" cy="518"/>
              </a:xfrm>
            </p:grpSpPr>
            <p:sp>
              <p:nvSpPr>
                <p:cNvPr id="37055" name="Rectangle 268"/>
                <p:cNvSpPr>
                  <a:spLocks noChangeArrowheads="1"/>
                </p:cNvSpPr>
                <p:nvPr/>
              </p:nvSpPr>
              <p:spPr bwMode="auto">
                <a:xfrm>
                  <a:off x="3027" y="518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6" name="Rectangle 355"/>
                <p:cNvSpPr>
                  <a:spLocks noChangeArrowheads="1"/>
                </p:cNvSpPr>
                <p:nvPr/>
              </p:nvSpPr>
              <p:spPr bwMode="auto">
                <a:xfrm>
                  <a:off x="2984" y="518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7" name="Group 358"/>
              <p:cNvGrpSpPr>
                <a:grpSpLocks/>
              </p:cNvGrpSpPr>
              <p:nvPr/>
            </p:nvGrpSpPr>
            <p:grpSpPr bwMode="auto">
              <a:xfrm>
                <a:off x="0" y="1036"/>
                <a:ext cx="335" cy="518"/>
                <a:chOff x="0" y="1036"/>
                <a:chExt cx="335" cy="518"/>
              </a:xfrm>
            </p:grpSpPr>
            <p:sp>
              <p:nvSpPr>
                <p:cNvPr id="37053" name="Rectangle 269"/>
                <p:cNvSpPr>
                  <a:spLocks noChangeArrowheads="1"/>
                </p:cNvSpPr>
                <p:nvPr/>
              </p:nvSpPr>
              <p:spPr bwMode="auto">
                <a:xfrm>
                  <a:off x="43" y="1036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1001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4" name="Rectangle 357"/>
                <p:cNvSpPr>
                  <a:spLocks noChangeArrowheads="1"/>
                </p:cNvSpPr>
                <p:nvPr/>
              </p:nvSpPr>
              <p:spPr bwMode="auto">
                <a:xfrm>
                  <a:off x="0" y="1036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8" name="Group 360"/>
              <p:cNvGrpSpPr>
                <a:grpSpLocks/>
              </p:cNvGrpSpPr>
              <p:nvPr/>
            </p:nvGrpSpPr>
            <p:grpSpPr bwMode="auto">
              <a:xfrm>
                <a:off x="335" y="1036"/>
                <a:ext cx="402" cy="518"/>
                <a:chOff x="335" y="1036"/>
                <a:chExt cx="402" cy="518"/>
              </a:xfrm>
            </p:grpSpPr>
            <p:sp>
              <p:nvSpPr>
                <p:cNvPr id="37051" name="Rectangle 270"/>
                <p:cNvSpPr>
                  <a:spLocks noChangeArrowheads="1"/>
                </p:cNvSpPr>
                <p:nvPr/>
              </p:nvSpPr>
              <p:spPr bwMode="auto">
                <a:xfrm>
                  <a:off x="378" y="1036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04/14/00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2" name="Rectangle 359"/>
                <p:cNvSpPr>
                  <a:spLocks noChangeArrowheads="1"/>
                </p:cNvSpPr>
                <p:nvPr/>
              </p:nvSpPr>
              <p:spPr bwMode="auto">
                <a:xfrm>
                  <a:off x="335" y="1036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9" name="Group 362"/>
              <p:cNvGrpSpPr>
                <a:grpSpLocks/>
              </p:cNvGrpSpPr>
              <p:nvPr/>
            </p:nvGrpSpPr>
            <p:grpSpPr bwMode="auto">
              <a:xfrm>
                <a:off x="737" y="1036"/>
                <a:ext cx="399" cy="518"/>
                <a:chOff x="737" y="1036"/>
                <a:chExt cx="399" cy="518"/>
              </a:xfrm>
            </p:grpSpPr>
            <p:sp>
              <p:nvSpPr>
                <p:cNvPr id="37049" name="Rectangle 271"/>
                <p:cNvSpPr>
                  <a:spLocks noChangeArrowheads="1"/>
                </p:cNvSpPr>
                <p:nvPr/>
              </p:nvSpPr>
              <p:spPr bwMode="auto">
                <a:xfrm>
                  <a:off x="780" y="1036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212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50" name="Rectangle 361"/>
                <p:cNvSpPr>
                  <a:spLocks noChangeArrowheads="1"/>
                </p:cNvSpPr>
                <p:nvPr/>
              </p:nvSpPr>
              <p:spPr bwMode="auto">
                <a:xfrm>
                  <a:off x="737" y="1036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0" name="Group 364"/>
              <p:cNvGrpSpPr>
                <a:grpSpLocks/>
              </p:cNvGrpSpPr>
              <p:nvPr/>
            </p:nvGrpSpPr>
            <p:grpSpPr bwMode="auto">
              <a:xfrm>
                <a:off x="1136" y="1036"/>
                <a:ext cx="405" cy="518"/>
                <a:chOff x="1136" y="1036"/>
                <a:chExt cx="405" cy="518"/>
              </a:xfrm>
            </p:grpSpPr>
            <p:sp>
              <p:nvSpPr>
                <p:cNvPr id="37047" name="Rectangle 272"/>
                <p:cNvSpPr>
                  <a:spLocks noChangeArrowheads="1"/>
                </p:cNvSpPr>
                <p:nvPr/>
              </p:nvSpPr>
              <p:spPr bwMode="auto">
                <a:xfrm>
                  <a:off x="1179" y="1036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48" name="Rectangle 363"/>
                <p:cNvSpPr>
                  <a:spLocks noChangeArrowheads="1"/>
                </p:cNvSpPr>
                <p:nvPr/>
              </p:nvSpPr>
              <p:spPr bwMode="auto">
                <a:xfrm>
                  <a:off x="1136" y="1036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1" name="Group 366"/>
              <p:cNvGrpSpPr>
                <a:grpSpLocks/>
              </p:cNvGrpSpPr>
              <p:nvPr/>
            </p:nvGrpSpPr>
            <p:grpSpPr bwMode="auto">
              <a:xfrm>
                <a:off x="1541" y="1036"/>
                <a:ext cx="518" cy="518"/>
                <a:chOff x="1541" y="1036"/>
                <a:chExt cx="518" cy="518"/>
              </a:xfrm>
            </p:grpSpPr>
            <p:sp>
              <p:nvSpPr>
                <p:cNvPr id="37045" name="Rectangle 273"/>
                <p:cNvSpPr>
                  <a:spLocks noChangeArrowheads="1"/>
                </p:cNvSpPr>
                <p:nvPr/>
              </p:nvSpPr>
              <p:spPr bwMode="auto">
                <a:xfrm>
                  <a:off x="1584" y="1036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Starks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46" name="Rectangle 365"/>
                <p:cNvSpPr>
                  <a:spLocks noChangeArrowheads="1"/>
                </p:cNvSpPr>
                <p:nvPr/>
              </p:nvSpPr>
              <p:spPr bwMode="auto">
                <a:xfrm>
                  <a:off x="1541" y="1036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2" name="Group 368"/>
              <p:cNvGrpSpPr>
                <a:grpSpLocks/>
              </p:cNvGrpSpPr>
              <p:nvPr/>
            </p:nvGrpSpPr>
            <p:grpSpPr bwMode="auto">
              <a:xfrm>
                <a:off x="2059" y="1036"/>
                <a:ext cx="473" cy="518"/>
                <a:chOff x="2059" y="1036"/>
                <a:chExt cx="473" cy="518"/>
              </a:xfrm>
            </p:grpSpPr>
            <p:sp>
              <p:nvSpPr>
                <p:cNvPr id="37043" name="Rectangle 274"/>
                <p:cNvSpPr>
                  <a:spLocks noChangeArrowheads="1"/>
                </p:cNvSpPr>
                <p:nvPr/>
              </p:nvSpPr>
              <p:spPr bwMode="auto">
                <a:xfrm>
                  <a:off x="2102" y="1036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Bolt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44" name="Rectangle 367"/>
                <p:cNvSpPr>
                  <a:spLocks noChangeArrowheads="1"/>
                </p:cNvSpPr>
                <p:nvPr/>
              </p:nvSpPr>
              <p:spPr bwMode="auto">
                <a:xfrm>
                  <a:off x="2059" y="1036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3" name="Group 370"/>
              <p:cNvGrpSpPr>
                <a:grpSpLocks/>
              </p:cNvGrpSpPr>
              <p:nvPr/>
            </p:nvGrpSpPr>
            <p:grpSpPr bwMode="auto">
              <a:xfrm>
                <a:off x="2532" y="1036"/>
                <a:ext cx="452" cy="518"/>
                <a:chOff x="2532" y="1036"/>
                <a:chExt cx="452" cy="518"/>
              </a:xfrm>
            </p:grpSpPr>
            <p:sp>
              <p:nvSpPr>
                <p:cNvPr id="37041" name="Rectangle 275"/>
                <p:cNvSpPr>
                  <a:spLocks noChangeArrowheads="1"/>
                </p:cNvSpPr>
                <p:nvPr/>
              </p:nvSpPr>
              <p:spPr bwMode="auto">
                <a:xfrm>
                  <a:off x="2575" y="1036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$3.99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42" name="Rectangle 369"/>
                <p:cNvSpPr>
                  <a:spLocks noChangeArrowheads="1"/>
                </p:cNvSpPr>
                <p:nvPr/>
              </p:nvSpPr>
              <p:spPr bwMode="auto">
                <a:xfrm>
                  <a:off x="2532" y="1036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4" name="Group 372"/>
              <p:cNvGrpSpPr>
                <a:grpSpLocks/>
              </p:cNvGrpSpPr>
              <p:nvPr/>
            </p:nvGrpSpPr>
            <p:grpSpPr bwMode="auto">
              <a:xfrm>
                <a:off x="2984" y="1036"/>
                <a:ext cx="291" cy="518"/>
                <a:chOff x="2984" y="1036"/>
                <a:chExt cx="291" cy="518"/>
              </a:xfrm>
            </p:grpSpPr>
            <p:sp>
              <p:nvSpPr>
                <p:cNvPr id="37039" name="Rectangle 276"/>
                <p:cNvSpPr>
                  <a:spLocks noChangeArrowheads="1"/>
                </p:cNvSpPr>
                <p:nvPr/>
              </p:nvSpPr>
              <p:spPr bwMode="auto">
                <a:xfrm>
                  <a:off x="3027" y="1036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40" name="Rectangle 371"/>
                <p:cNvSpPr>
                  <a:spLocks noChangeArrowheads="1"/>
                </p:cNvSpPr>
                <p:nvPr/>
              </p:nvSpPr>
              <p:spPr bwMode="auto">
                <a:xfrm>
                  <a:off x="2984" y="1036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5" name="Group 374"/>
              <p:cNvGrpSpPr>
                <a:grpSpLocks/>
              </p:cNvGrpSpPr>
              <p:nvPr/>
            </p:nvGrpSpPr>
            <p:grpSpPr bwMode="auto">
              <a:xfrm>
                <a:off x="0" y="1554"/>
                <a:ext cx="335" cy="518"/>
                <a:chOff x="0" y="1554"/>
                <a:chExt cx="335" cy="518"/>
              </a:xfrm>
            </p:grpSpPr>
            <p:sp>
              <p:nvSpPr>
                <p:cNvPr id="37037" name="Rectangle 277"/>
                <p:cNvSpPr>
                  <a:spLocks noChangeArrowheads="1"/>
                </p:cNvSpPr>
                <p:nvPr/>
              </p:nvSpPr>
              <p:spPr bwMode="auto">
                <a:xfrm>
                  <a:off x="43" y="1554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1001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38" name="Rectangle 373"/>
                <p:cNvSpPr>
                  <a:spLocks noChangeArrowheads="1"/>
                </p:cNvSpPr>
                <p:nvPr/>
              </p:nvSpPr>
              <p:spPr bwMode="auto">
                <a:xfrm>
                  <a:off x="0" y="1554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6" name="Group 376"/>
              <p:cNvGrpSpPr>
                <a:grpSpLocks/>
              </p:cNvGrpSpPr>
              <p:nvPr/>
            </p:nvGrpSpPr>
            <p:grpSpPr bwMode="auto">
              <a:xfrm>
                <a:off x="335" y="1554"/>
                <a:ext cx="402" cy="518"/>
                <a:chOff x="335" y="1554"/>
                <a:chExt cx="402" cy="518"/>
              </a:xfrm>
            </p:grpSpPr>
            <p:sp>
              <p:nvSpPr>
                <p:cNvPr id="37035" name="Rectangle 278"/>
                <p:cNvSpPr>
                  <a:spLocks noChangeArrowheads="1"/>
                </p:cNvSpPr>
                <p:nvPr/>
              </p:nvSpPr>
              <p:spPr bwMode="auto">
                <a:xfrm>
                  <a:off x="378" y="1554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04/14/00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36" name="Rectangle 375"/>
                <p:cNvSpPr>
                  <a:spLocks noChangeArrowheads="1"/>
                </p:cNvSpPr>
                <p:nvPr/>
              </p:nvSpPr>
              <p:spPr bwMode="auto">
                <a:xfrm>
                  <a:off x="335" y="1554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7" name="Group 378"/>
              <p:cNvGrpSpPr>
                <a:grpSpLocks/>
              </p:cNvGrpSpPr>
              <p:nvPr/>
            </p:nvGrpSpPr>
            <p:grpSpPr bwMode="auto">
              <a:xfrm>
                <a:off x="737" y="1554"/>
                <a:ext cx="399" cy="518"/>
                <a:chOff x="737" y="1554"/>
                <a:chExt cx="399" cy="518"/>
              </a:xfrm>
            </p:grpSpPr>
            <p:sp>
              <p:nvSpPr>
                <p:cNvPr id="37033" name="Rectangle 279"/>
                <p:cNvSpPr>
                  <a:spLocks noChangeArrowheads="1"/>
                </p:cNvSpPr>
                <p:nvPr/>
              </p:nvSpPr>
              <p:spPr bwMode="auto">
                <a:xfrm>
                  <a:off x="780" y="1554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212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34" name="Rectangle 377"/>
                <p:cNvSpPr>
                  <a:spLocks noChangeArrowheads="1"/>
                </p:cNvSpPr>
                <p:nvPr/>
              </p:nvSpPr>
              <p:spPr bwMode="auto">
                <a:xfrm>
                  <a:off x="737" y="1554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8" name="Group 380"/>
              <p:cNvGrpSpPr>
                <a:grpSpLocks/>
              </p:cNvGrpSpPr>
              <p:nvPr/>
            </p:nvGrpSpPr>
            <p:grpSpPr bwMode="auto">
              <a:xfrm>
                <a:off x="1136" y="1554"/>
                <a:ext cx="405" cy="518"/>
                <a:chOff x="1136" y="1554"/>
                <a:chExt cx="405" cy="518"/>
              </a:xfrm>
            </p:grpSpPr>
            <p:sp>
              <p:nvSpPr>
                <p:cNvPr id="37031" name="Rectangle 280"/>
                <p:cNvSpPr>
                  <a:spLocks noChangeArrowheads="1"/>
                </p:cNvSpPr>
                <p:nvPr/>
              </p:nvSpPr>
              <p:spPr bwMode="auto">
                <a:xfrm>
                  <a:off x="1179" y="1554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32" name="Rectangle 379"/>
                <p:cNvSpPr>
                  <a:spLocks noChangeArrowheads="1"/>
                </p:cNvSpPr>
                <p:nvPr/>
              </p:nvSpPr>
              <p:spPr bwMode="auto">
                <a:xfrm>
                  <a:off x="1136" y="1554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9" name="Group 382"/>
              <p:cNvGrpSpPr>
                <a:grpSpLocks/>
              </p:cNvGrpSpPr>
              <p:nvPr/>
            </p:nvGrpSpPr>
            <p:grpSpPr bwMode="auto">
              <a:xfrm>
                <a:off x="1541" y="1554"/>
                <a:ext cx="518" cy="518"/>
                <a:chOff x="1541" y="1554"/>
                <a:chExt cx="518" cy="518"/>
              </a:xfrm>
            </p:grpSpPr>
            <p:sp>
              <p:nvSpPr>
                <p:cNvPr id="37029" name="Rectangle 281"/>
                <p:cNvSpPr>
                  <a:spLocks noChangeArrowheads="1"/>
                </p:cNvSpPr>
                <p:nvPr/>
              </p:nvSpPr>
              <p:spPr bwMode="auto">
                <a:xfrm>
                  <a:off x="1584" y="1554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Starks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30" name="Rectangle 381"/>
                <p:cNvSpPr>
                  <a:spLocks noChangeArrowheads="1"/>
                </p:cNvSpPr>
                <p:nvPr/>
              </p:nvSpPr>
              <p:spPr bwMode="auto">
                <a:xfrm>
                  <a:off x="1541" y="1554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0" name="Group 384"/>
              <p:cNvGrpSpPr>
                <a:grpSpLocks/>
              </p:cNvGrpSpPr>
              <p:nvPr/>
            </p:nvGrpSpPr>
            <p:grpSpPr bwMode="auto">
              <a:xfrm>
                <a:off x="2059" y="1554"/>
                <a:ext cx="473" cy="518"/>
                <a:chOff x="2059" y="1554"/>
                <a:chExt cx="473" cy="518"/>
              </a:xfrm>
            </p:grpSpPr>
            <p:sp>
              <p:nvSpPr>
                <p:cNvPr id="37027" name="Rectangle 282"/>
                <p:cNvSpPr>
                  <a:spLocks noChangeArrowheads="1"/>
                </p:cNvSpPr>
                <p:nvPr/>
              </p:nvSpPr>
              <p:spPr bwMode="auto">
                <a:xfrm>
                  <a:off x="2102" y="1554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Washer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8" name="Rectangle 383"/>
                <p:cNvSpPr>
                  <a:spLocks noChangeArrowheads="1"/>
                </p:cNvSpPr>
                <p:nvPr/>
              </p:nvSpPr>
              <p:spPr bwMode="auto">
                <a:xfrm>
                  <a:off x="2059" y="1554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1" name="Group 386"/>
              <p:cNvGrpSpPr>
                <a:grpSpLocks/>
              </p:cNvGrpSpPr>
              <p:nvPr/>
            </p:nvGrpSpPr>
            <p:grpSpPr bwMode="auto">
              <a:xfrm>
                <a:off x="2532" y="1554"/>
                <a:ext cx="452" cy="518"/>
                <a:chOff x="2532" y="1554"/>
                <a:chExt cx="452" cy="518"/>
              </a:xfrm>
            </p:grpSpPr>
            <p:sp>
              <p:nvSpPr>
                <p:cNvPr id="37025" name="Rectangle 283"/>
                <p:cNvSpPr>
                  <a:spLocks noChangeArrowheads="1"/>
                </p:cNvSpPr>
                <p:nvPr/>
              </p:nvSpPr>
              <p:spPr bwMode="auto">
                <a:xfrm>
                  <a:off x="2575" y="1554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$1.99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6" name="Rectangle 385"/>
                <p:cNvSpPr>
                  <a:spLocks noChangeArrowheads="1"/>
                </p:cNvSpPr>
                <p:nvPr/>
              </p:nvSpPr>
              <p:spPr bwMode="auto">
                <a:xfrm>
                  <a:off x="2532" y="1554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2" name="Group 388"/>
              <p:cNvGrpSpPr>
                <a:grpSpLocks/>
              </p:cNvGrpSpPr>
              <p:nvPr/>
            </p:nvGrpSpPr>
            <p:grpSpPr bwMode="auto">
              <a:xfrm>
                <a:off x="2984" y="1554"/>
                <a:ext cx="291" cy="518"/>
                <a:chOff x="2984" y="1554"/>
                <a:chExt cx="291" cy="518"/>
              </a:xfrm>
            </p:grpSpPr>
            <p:sp>
              <p:nvSpPr>
                <p:cNvPr id="37023" name="Rectangle 284"/>
                <p:cNvSpPr>
                  <a:spLocks noChangeArrowheads="1"/>
                </p:cNvSpPr>
                <p:nvPr/>
              </p:nvSpPr>
              <p:spPr bwMode="auto">
                <a:xfrm>
                  <a:off x="3027" y="1554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4" name="Rectangle 387"/>
                <p:cNvSpPr>
                  <a:spLocks noChangeArrowheads="1"/>
                </p:cNvSpPr>
                <p:nvPr/>
              </p:nvSpPr>
              <p:spPr bwMode="auto">
                <a:xfrm>
                  <a:off x="2984" y="1554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3" name="Group 390"/>
              <p:cNvGrpSpPr>
                <a:grpSpLocks/>
              </p:cNvGrpSpPr>
              <p:nvPr/>
            </p:nvGrpSpPr>
            <p:grpSpPr bwMode="auto">
              <a:xfrm>
                <a:off x="0" y="2072"/>
                <a:ext cx="335" cy="518"/>
                <a:chOff x="0" y="2072"/>
                <a:chExt cx="335" cy="518"/>
              </a:xfrm>
            </p:grpSpPr>
            <p:sp>
              <p:nvSpPr>
                <p:cNvPr id="37021" name="Rectangle 285"/>
                <p:cNvSpPr>
                  <a:spLocks noChangeArrowheads="1"/>
                </p:cNvSpPr>
                <p:nvPr/>
              </p:nvSpPr>
              <p:spPr bwMode="auto">
                <a:xfrm>
                  <a:off x="43" y="2072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2" name="Rectangle 389"/>
                <p:cNvSpPr>
                  <a:spLocks noChangeArrowheads="1"/>
                </p:cNvSpPr>
                <p:nvPr/>
              </p:nvSpPr>
              <p:spPr bwMode="auto">
                <a:xfrm>
                  <a:off x="0" y="2072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4" name="Group 392"/>
              <p:cNvGrpSpPr>
                <a:grpSpLocks/>
              </p:cNvGrpSpPr>
              <p:nvPr/>
            </p:nvGrpSpPr>
            <p:grpSpPr bwMode="auto">
              <a:xfrm>
                <a:off x="335" y="2072"/>
                <a:ext cx="402" cy="518"/>
                <a:chOff x="335" y="2072"/>
                <a:chExt cx="402" cy="518"/>
              </a:xfrm>
            </p:grpSpPr>
            <p:sp>
              <p:nvSpPr>
                <p:cNvPr id="37019" name="Rectangle 286"/>
                <p:cNvSpPr>
                  <a:spLocks noChangeArrowheads="1"/>
                </p:cNvSpPr>
                <p:nvPr/>
              </p:nvSpPr>
              <p:spPr bwMode="auto">
                <a:xfrm>
                  <a:off x="378" y="2072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04/17/00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0" name="Rectangle 391"/>
                <p:cNvSpPr>
                  <a:spLocks noChangeArrowheads="1"/>
                </p:cNvSpPr>
                <p:nvPr/>
              </p:nvSpPr>
              <p:spPr bwMode="auto">
                <a:xfrm>
                  <a:off x="335" y="2072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5" name="Group 394"/>
              <p:cNvGrpSpPr>
                <a:grpSpLocks/>
              </p:cNvGrpSpPr>
              <p:nvPr/>
            </p:nvGrpSpPr>
            <p:grpSpPr bwMode="auto">
              <a:xfrm>
                <a:off x="737" y="2072"/>
                <a:ext cx="399" cy="518"/>
                <a:chOff x="737" y="2072"/>
                <a:chExt cx="399" cy="518"/>
              </a:xfrm>
            </p:grpSpPr>
            <p:sp>
              <p:nvSpPr>
                <p:cNvPr id="37017" name="Rectangle 287"/>
                <p:cNvSpPr>
                  <a:spLocks noChangeArrowheads="1"/>
                </p:cNvSpPr>
                <p:nvPr/>
              </p:nvSpPr>
              <p:spPr bwMode="auto">
                <a:xfrm>
                  <a:off x="780" y="2072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225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8" name="Rectangle 393"/>
                <p:cNvSpPr>
                  <a:spLocks noChangeArrowheads="1"/>
                </p:cNvSpPr>
                <p:nvPr/>
              </p:nvSpPr>
              <p:spPr bwMode="auto">
                <a:xfrm>
                  <a:off x="737" y="2072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6" name="Group 396"/>
              <p:cNvGrpSpPr>
                <a:grpSpLocks/>
              </p:cNvGrpSpPr>
              <p:nvPr/>
            </p:nvGrpSpPr>
            <p:grpSpPr bwMode="auto">
              <a:xfrm>
                <a:off x="1136" y="2072"/>
                <a:ext cx="405" cy="518"/>
                <a:chOff x="1136" y="2072"/>
                <a:chExt cx="405" cy="518"/>
              </a:xfrm>
            </p:grpSpPr>
            <p:sp>
              <p:nvSpPr>
                <p:cNvPr id="37015" name="Rectangle 288"/>
                <p:cNvSpPr>
                  <a:spLocks noChangeArrowheads="1"/>
                </p:cNvSpPr>
                <p:nvPr/>
              </p:nvSpPr>
              <p:spPr bwMode="auto">
                <a:xfrm>
                  <a:off x="1179" y="2072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6" name="Rectangle 395"/>
                <p:cNvSpPr>
                  <a:spLocks noChangeArrowheads="1"/>
                </p:cNvSpPr>
                <p:nvPr/>
              </p:nvSpPr>
              <p:spPr bwMode="auto">
                <a:xfrm>
                  <a:off x="1136" y="2072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7" name="Group 398"/>
              <p:cNvGrpSpPr>
                <a:grpSpLocks/>
              </p:cNvGrpSpPr>
              <p:nvPr/>
            </p:nvGrpSpPr>
            <p:grpSpPr bwMode="auto">
              <a:xfrm>
                <a:off x="1541" y="2072"/>
                <a:ext cx="518" cy="518"/>
                <a:chOff x="1541" y="2072"/>
                <a:chExt cx="518" cy="518"/>
              </a:xfrm>
            </p:grpSpPr>
            <p:sp>
              <p:nvSpPr>
                <p:cNvPr id="37013" name="Rectangle 289"/>
                <p:cNvSpPr>
                  <a:spLocks noChangeArrowheads="1"/>
                </p:cNvSpPr>
                <p:nvPr/>
              </p:nvSpPr>
              <p:spPr bwMode="auto">
                <a:xfrm>
                  <a:off x="1584" y="2072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Connors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4" name="Rectangle 397"/>
                <p:cNvSpPr>
                  <a:spLocks noChangeArrowheads="1"/>
                </p:cNvSpPr>
                <p:nvPr/>
              </p:nvSpPr>
              <p:spPr bwMode="auto">
                <a:xfrm>
                  <a:off x="1541" y="2072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8" name="Group 400"/>
              <p:cNvGrpSpPr>
                <a:grpSpLocks/>
              </p:cNvGrpSpPr>
              <p:nvPr/>
            </p:nvGrpSpPr>
            <p:grpSpPr bwMode="auto">
              <a:xfrm>
                <a:off x="2059" y="2072"/>
                <a:ext cx="473" cy="518"/>
                <a:chOff x="2059" y="2072"/>
                <a:chExt cx="473" cy="518"/>
              </a:xfrm>
            </p:grpSpPr>
            <p:sp>
              <p:nvSpPr>
                <p:cNvPr id="37011" name="Rectangle 290"/>
                <p:cNvSpPr>
                  <a:spLocks noChangeArrowheads="1"/>
                </p:cNvSpPr>
                <p:nvPr/>
              </p:nvSpPr>
              <p:spPr bwMode="auto">
                <a:xfrm>
                  <a:off x="2102" y="2072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Screw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2" name="Rectangle 399"/>
                <p:cNvSpPr>
                  <a:spLocks noChangeArrowheads="1"/>
                </p:cNvSpPr>
                <p:nvPr/>
              </p:nvSpPr>
              <p:spPr bwMode="auto">
                <a:xfrm>
                  <a:off x="2059" y="2072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9" name="Group 402"/>
              <p:cNvGrpSpPr>
                <a:grpSpLocks/>
              </p:cNvGrpSpPr>
              <p:nvPr/>
            </p:nvGrpSpPr>
            <p:grpSpPr bwMode="auto">
              <a:xfrm>
                <a:off x="2532" y="2072"/>
                <a:ext cx="452" cy="518"/>
                <a:chOff x="2532" y="2072"/>
                <a:chExt cx="452" cy="518"/>
              </a:xfrm>
            </p:grpSpPr>
            <p:sp>
              <p:nvSpPr>
                <p:cNvPr id="37009" name="Rectangle 291"/>
                <p:cNvSpPr>
                  <a:spLocks noChangeArrowheads="1"/>
                </p:cNvSpPr>
                <p:nvPr/>
              </p:nvSpPr>
              <p:spPr bwMode="auto">
                <a:xfrm>
                  <a:off x="2575" y="2072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$2.25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0" name="Rectangle 401"/>
                <p:cNvSpPr>
                  <a:spLocks noChangeArrowheads="1"/>
                </p:cNvSpPr>
                <p:nvPr/>
              </p:nvSpPr>
              <p:spPr bwMode="auto">
                <a:xfrm>
                  <a:off x="2532" y="2072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0" name="Group 404"/>
              <p:cNvGrpSpPr>
                <a:grpSpLocks/>
              </p:cNvGrpSpPr>
              <p:nvPr/>
            </p:nvGrpSpPr>
            <p:grpSpPr bwMode="auto">
              <a:xfrm>
                <a:off x="2984" y="2072"/>
                <a:ext cx="291" cy="518"/>
                <a:chOff x="2984" y="2072"/>
                <a:chExt cx="291" cy="518"/>
              </a:xfrm>
            </p:grpSpPr>
            <p:sp>
              <p:nvSpPr>
                <p:cNvPr id="37007" name="Rectangle 292"/>
                <p:cNvSpPr>
                  <a:spLocks noChangeArrowheads="1"/>
                </p:cNvSpPr>
                <p:nvPr/>
              </p:nvSpPr>
              <p:spPr bwMode="auto">
                <a:xfrm>
                  <a:off x="3027" y="2072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8" name="Rectangle 403"/>
                <p:cNvSpPr>
                  <a:spLocks noChangeArrowheads="1"/>
                </p:cNvSpPr>
                <p:nvPr/>
              </p:nvSpPr>
              <p:spPr bwMode="auto">
                <a:xfrm>
                  <a:off x="2984" y="2072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1" name="Group 406"/>
              <p:cNvGrpSpPr>
                <a:grpSpLocks/>
              </p:cNvGrpSpPr>
              <p:nvPr/>
            </p:nvGrpSpPr>
            <p:grpSpPr bwMode="auto">
              <a:xfrm>
                <a:off x="0" y="2590"/>
                <a:ext cx="335" cy="518"/>
                <a:chOff x="0" y="2590"/>
                <a:chExt cx="335" cy="518"/>
              </a:xfrm>
            </p:grpSpPr>
            <p:sp>
              <p:nvSpPr>
                <p:cNvPr id="37005" name="Rectangle 293"/>
                <p:cNvSpPr>
                  <a:spLocks noChangeArrowheads="1"/>
                </p:cNvSpPr>
                <p:nvPr/>
              </p:nvSpPr>
              <p:spPr bwMode="auto">
                <a:xfrm>
                  <a:off x="43" y="2590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6" name="Rectangle 405"/>
                <p:cNvSpPr>
                  <a:spLocks noChangeArrowheads="1"/>
                </p:cNvSpPr>
                <p:nvPr/>
              </p:nvSpPr>
              <p:spPr bwMode="auto">
                <a:xfrm>
                  <a:off x="0" y="2590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2" name="Group 408"/>
              <p:cNvGrpSpPr>
                <a:grpSpLocks/>
              </p:cNvGrpSpPr>
              <p:nvPr/>
            </p:nvGrpSpPr>
            <p:grpSpPr bwMode="auto">
              <a:xfrm>
                <a:off x="335" y="2590"/>
                <a:ext cx="402" cy="518"/>
                <a:chOff x="335" y="2590"/>
                <a:chExt cx="402" cy="518"/>
              </a:xfrm>
            </p:grpSpPr>
            <p:sp>
              <p:nvSpPr>
                <p:cNvPr id="37003" name="Rectangle 294"/>
                <p:cNvSpPr>
                  <a:spLocks noChangeArrowheads="1"/>
                </p:cNvSpPr>
                <p:nvPr/>
              </p:nvSpPr>
              <p:spPr bwMode="auto">
                <a:xfrm>
                  <a:off x="378" y="2590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04/17/00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4" name="Rectangle 407"/>
                <p:cNvSpPr>
                  <a:spLocks noChangeArrowheads="1"/>
                </p:cNvSpPr>
                <p:nvPr/>
              </p:nvSpPr>
              <p:spPr bwMode="auto">
                <a:xfrm>
                  <a:off x="335" y="2590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3" name="Group 410"/>
              <p:cNvGrpSpPr>
                <a:grpSpLocks/>
              </p:cNvGrpSpPr>
              <p:nvPr/>
            </p:nvGrpSpPr>
            <p:grpSpPr bwMode="auto">
              <a:xfrm>
                <a:off x="737" y="2590"/>
                <a:ext cx="399" cy="518"/>
                <a:chOff x="737" y="2590"/>
                <a:chExt cx="399" cy="518"/>
              </a:xfrm>
            </p:grpSpPr>
            <p:sp>
              <p:nvSpPr>
                <p:cNvPr id="37001" name="Rectangle 295"/>
                <p:cNvSpPr>
                  <a:spLocks noChangeArrowheads="1"/>
                </p:cNvSpPr>
                <p:nvPr/>
              </p:nvSpPr>
              <p:spPr bwMode="auto">
                <a:xfrm>
                  <a:off x="780" y="2590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225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2" name="Rectangle 409"/>
                <p:cNvSpPr>
                  <a:spLocks noChangeArrowheads="1"/>
                </p:cNvSpPr>
                <p:nvPr/>
              </p:nvSpPr>
              <p:spPr bwMode="auto">
                <a:xfrm>
                  <a:off x="737" y="2590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4" name="Group 412"/>
              <p:cNvGrpSpPr>
                <a:grpSpLocks/>
              </p:cNvGrpSpPr>
              <p:nvPr/>
            </p:nvGrpSpPr>
            <p:grpSpPr bwMode="auto">
              <a:xfrm>
                <a:off x="1136" y="2590"/>
                <a:ext cx="405" cy="518"/>
                <a:chOff x="1136" y="2590"/>
                <a:chExt cx="405" cy="518"/>
              </a:xfrm>
            </p:grpSpPr>
            <p:sp>
              <p:nvSpPr>
                <p:cNvPr id="36999" name="Rectangle 296"/>
                <p:cNvSpPr>
                  <a:spLocks noChangeArrowheads="1"/>
                </p:cNvSpPr>
                <p:nvPr/>
              </p:nvSpPr>
              <p:spPr bwMode="auto">
                <a:xfrm>
                  <a:off x="1179" y="2590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0" name="Rectangle 411"/>
                <p:cNvSpPr>
                  <a:spLocks noChangeArrowheads="1"/>
                </p:cNvSpPr>
                <p:nvPr/>
              </p:nvSpPr>
              <p:spPr bwMode="auto">
                <a:xfrm>
                  <a:off x="1136" y="2590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5" name="Group 414"/>
              <p:cNvGrpSpPr>
                <a:grpSpLocks/>
              </p:cNvGrpSpPr>
              <p:nvPr/>
            </p:nvGrpSpPr>
            <p:grpSpPr bwMode="auto">
              <a:xfrm>
                <a:off x="1541" y="2590"/>
                <a:ext cx="518" cy="518"/>
                <a:chOff x="1541" y="2590"/>
                <a:chExt cx="518" cy="518"/>
              </a:xfrm>
            </p:grpSpPr>
            <p:sp>
              <p:nvSpPr>
                <p:cNvPr id="36997" name="Rectangle 297"/>
                <p:cNvSpPr>
                  <a:spLocks noChangeArrowheads="1"/>
                </p:cNvSpPr>
                <p:nvPr/>
              </p:nvSpPr>
              <p:spPr bwMode="auto">
                <a:xfrm>
                  <a:off x="1584" y="2590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Connors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8" name="Rectangle 413"/>
                <p:cNvSpPr>
                  <a:spLocks noChangeArrowheads="1"/>
                </p:cNvSpPr>
                <p:nvPr/>
              </p:nvSpPr>
              <p:spPr bwMode="auto">
                <a:xfrm>
                  <a:off x="1541" y="2590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6" name="Group 416"/>
              <p:cNvGrpSpPr>
                <a:grpSpLocks/>
              </p:cNvGrpSpPr>
              <p:nvPr/>
            </p:nvGrpSpPr>
            <p:grpSpPr bwMode="auto">
              <a:xfrm>
                <a:off x="2059" y="2590"/>
                <a:ext cx="473" cy="518"/>
                <a:chOff x="2059" y="2590"/>
                <a:chExt cx="473" cy="518"/>
              </a:xfrm>
            </p:grpSpPr>
            <p:sp>
              <p:nvSpPr>
                <p:cNvPr id="36995" name="Rectangle 298"/>
                <p:cNvSpPr>
                  <a:spLocks noChangeArrowheads="1"/>
                </p:cNvSpPr>
                <p:nvPr/>
              </p:nvSpPr>
              <p:spPr bwMode="auto">
                <a:xfrm>
                  <a:off x="2102" y="2590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Nut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6" name="Rectangle 415"/>
                <p:cNvSpPr>
                  <a:spLocks noChangeArrowheads="1"/>
                </p:cNvSpPr>
                <p:nvPr/>
              </p:nvSpPr>
              <p:spPr bwMode="auto">
                <a:xfrm>
                  <a:off x="2059" y="2590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7" name="Group 418"/>
              <p:cNvGrpSpPr>
                <a:grpSpLocks/>
              </p:cNvGrpSpPr>
              <p:nvPr/>
            </p:nvGrpSpPr>
            <p:grpSpPr bwMode="auto">
              <a:xfrm>
                <a:off x="2532" y="2590"/>
                <a:ext cx="452" cy="518"/>
                <a:chOff x="2532" y="2590"/>
                <a:chExt cx="452" cy="518"/>
              </a:xfrm>
            </p:grpSpPr>
            <p:sp>
              <p:nvSpPr>
                <p:cNvPr id="36993" name="Rectangle 299"/>
                <p:cNvSpPr>
                  <a:spLocks noChangeArrowheads="1"/>
                </p:cNvSpPr>
                <p:nvPr/>
              </p:nvSpPr>
              <p:spPr bwMode="auto">
                <a:xfrm>
                  <a:off x="2575" y="2590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$5.00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4" name="Rectangle 417"/>
                <p:cNvSpPr>
                  <a:spLocks noChangeArrowheads="1"/>
                </p:cNvSpPr>
                <p:nvPr/>
              </p:nvSpPr>
              <p:spPr bwMode="auto">
                <a:xfrm>
                  <a:off x="2532" y="2590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8" name="Group 420"/>
              <p:cNvGrpSpPr>
                <a:grpSpLocks/>
              </p:cNvGrpSpPr>
              <p:nvPr/>
            </p:nvGrpSpPr>
            <p:grpSpPr bwMode="auto">
              <a:xfrm>
                <a:off x="2984" y="2590"/>
                <a:ext cx="291" cy="518"/>
                <a:chOff x="2984" y="2590"/>
                <a:chExt cx="291" cy="518"/>
              </a:xfrm>
            </p:grpSpPr>
            <p:sp>
              <p:nvSpPr>
                <p:cNvPr id="36991" name="Rectangle 300"/>
                <p:cNvSpPr>
                  <a:spLocks noChangeArrowheads="1"/>
                </p:cNvSpPr>
                <p:nvPr/>
              </p:nvSpPr>
              <p:spPr bwMode="auto">
                <a:xfrm>
                  <a:off x="3027" y="2590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2" name="Rectangle 419"/>
                <p:cNvSpPr>
                  <a:spLocks noChangeArrowheads="1"/>
                </p:cNvSpPr>
                <p:nvPr/>
              </p:nvSpPr>
              <p:spPr bwMode="auto">
                <a:xfrm>
                  <a:off x="2984" y="2590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9" name="Group 422"/>
              <p:cNvGrpSpPr>
                <a:grpSpLocks/>
              </p:cNvGrpSpPr>
              <p:nvPr/>
            </p:nvGrpSpPr>
            <p:grpSpPr bwMode="auto">
              <a:xfrm>
                <a:off x="0" y="3108"/>
                <a:ext cx="335" cy="518"/>
                <a:chOff x="0" y="3108"/>
                <a:chExt cx="335" cy="518"/>
              </a:xfrm>
            </p:grpSpPr>
            <p:sp>
              <p:nvSpPr>
                <p:cNvPr id="36989" name="Rectangle 301"/>
                <p:cNvSpPr>
                  <a:spLocks noChangeArrowheads="1"/>
                </p:cNvSpPr>
                <p:nvPr/>
              </p:nvSpPr>
              <p:spPr bwMode="auto">
                <a:xfrm>
                  <a:off x="43" y="3108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1003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0" name="Rectangle 421"/>
                <p:cNvSpPr>
                  <a:spLocks noChangeArrowheads="1"/>
                </p:cNvSpPr>
                <p:nvPr/>
              </p:nvSpPr>
              <p:spPr bwMode="auto">
                <a:xfrm>
                  <a:off x="0" y="3108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0" name="Group 424"/>
              <p:cNvGrpSpPr>
                <a:grpSpLocks/>
              </p:cNvGrpSpPr>
              <p:nvPr/>
            </p:nvGrpSpPr>
            <p:grpSpPr bwMode="auto">
              <a:xfrm>
                <a:off x="335" y="3108"/>
                <a:ext cx="402" cy="518"/>
                <a:chOff x="335" y="3108"/>
                <a:chExt cx="402" cy="518"/>
              </a:xfrm>
            </p:grpSpPr>
            <p:sp>
              <p:nvSpPr>
                <p:cNvPr id="36987" name="Rectangle 302"/>
                <p:cNvSpPr>
                  <a:spLocks noChangeArrowheads="1"/>
                </p:cNvSpPr>
                <p:nvPr/>
              </p:nvSpPr>
              <p:spPr bwMode="auto">
                <a:xfrm>
                  <a:off x="378" y="3108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04/17/00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8" name="Rectangle 423"/>
                <p:cNvSpPr>
                  <a:spLocks noChangeArrowheads="1"/>
                </p:cNvSpPr>
                <p:nvPr/>
              </p:nvSpPr>
              <p:spPr bwMode="auto">
                <a:xfrm>
                  <a:off x="335" y="3108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1" name="Group 426"/>
              <p:cNvGrpSpPr>
                <a:grpSpLocks/>
              </p:cNvGrpSpPr>
              <p:nvPr/>
            </p:nvGrpSpPr>
            <p:grpSpPr bwMode="auto">
              <a:xfrm>
                <a:off x="737" y="3108"/>
                <a:ext cx="399" cy="518"/>
                <a:chOff x="737" y="3108"/>
                <a:chExt cx="399" cy="518"/>
              </a:xfrm>
            </p:grpSpPr>
            <p:sp>
              <p:nvSpPr>
                <p:cNvPr id="36985" name="Rectangle 303"/>
                <p:cNvSpPr>
                  <a:spLocks noChangeArrowheads="1"/>
                </p:cNvSpPr>
                <p:nvPr/>
              </p:nvSpPr>
              <p:spPr bwMode="auto">
                <a:xfrm>
                  <a:off x="780" y="3108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239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6" name="Rectangle 425"/>
                <p:cNvSpPr>
                  <a:spLocks noChangeArrowheads="1"/>
                </p:cNvSpPr>
                <p:nvPr/>
              </p:nvSpPr>
              <p:spPr bwMode="auto">
                <a:xfrm>
                  <a:off x="737" y="3108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2" name="Group 428"/>
              <p:cNvGrpSpPr>
                <a:grpSpLocks/>
              </p:cNvGrpSpPr>
              <p:nvPr/>
            </p:nvGrpSpPr>
            <p:grpSpPr bwMode="auto">
              <a:xfrm>
                <a:off x="1136" y="3108"/>
                <a:ext cx="405" cy="518"/>
                <a:chOff x="1136" y="3108"/>
                <a:chExt cx="405" cy="518"/>
              </a:xfrm>
            </p:grpSpPr>
            <p:sp>
              <p:nvSpPr>
                <p:cNvPr id="36983" name="Rectangle 304"/>
                <p:cNvSpPr>
                  <a:spLocks noChangeArrowheads="1"/>
                </p:cNvSpPr>
                <p:nvPr/>
              </p:nvSpPr>
              <p:spPr bwMode="auto">
                <a:xfrm>
                  <a:off x="1179" y="3108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4" name="Rectangle 427"/>
                <p:cNvSpPr>
                  <a:spLocks noChangeArrowheads="1"/>
                </p:cNvSpPr>
                <p:nvPr/>
              </p:nvSpPr>
              <p:spPr bwMode="auto">
                <a:xfrm>
                  <a:off x="1136" y="3108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3" name="Group 430"/>
              <p:cNvGrpSpPr>
                <a:grpSpLocks/>
              </p:cNvGrpSpPr>
              <p:nvPr/>
            </p:nvGrpSpPr>
            <p:grpSpPr bwMode="auto">
              <a:xfrm>
                <a:off x="1541" y="3108"/>
                <a:ext cx="518" cy="518"/>
                <a:chOff x="1541" y="3108"/>
                <a:chExt cx="518" cy="518"/>
              </a:xfrm>
            </p:grpSpPr>
            <p:sp>
              <p:nvSpPr>
                <p:cNvPr id="36981" name="Rectangle 305"/>
                <p:cNvSpPr>
                  <a:spLocks noChangeArrowheads="1"/>
                </p:cNvSpPr>
                <p:nvPr/>
              </p:nvSpPr>
              <p:spPr bwMode="auto">
                <a:xfrm>
                  <a:off x="1584" y="3108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Kapur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2" name="Rectangle 429"/>
                <p:cNvSpPr>
                  <a:spLocks noChangeArrowheads="1"/>
                </p:cNvSpPr>
                <p:nvPr/>
              </p:nvSpPr>
              <p:spPr bwMode="auto">
                <a:xfrm>
                  <a:off x="1541" y="3108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4" name="Group 432"/>
              <p:cNvGrpSpPr>
                <a:grpSpLocks/>
              </p:cNvGrpSpPr>
              <p:nvPr/>
            </p:nvGrpSpPr>
            <p:grpSpPr bwMode="auto">
              <a:xfrm>
                <a:off x="2059" y="3108"/>
                <a:ext cx="473" cy="518"/>
                <a:chOff x="2059" y="3108"/>
                <a:chExt cx="473" cy="518"/>
              </a:xfrm>
            </p:grpSpPr>
            <p:sp>
              <p:nvSpPr>
                <p:cNvPr id="36979" name="Rectangle 306"/>
                <p:cNvSpPr>
                  <a:spLocks noChangeArrowheads="1"/>
                </p:cNvSpPr>
                <p:nvPr/>
              </p:nvSpPr>
              <p:spPr bwMode="auto">
                <a:xfrm>
                  <a:off x="2102" y="3108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Screw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0" name="Rectangle 431"/>
                <p:cNvSpPr>
                  <a:spLocks noChangeArrowheads="1"/>
                </p:cNvSpPr>
                <p:nvPr/>
              </p:nvSpPr>
              <p:spPr bwMode="auto">
                <a:xfrm>
                  <a:off x="2059" y="3108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5" name="Group 434"/>
              <p:cNvGrpSpPr>
                <a:grpSpLocks/>
              </p:cNvGrpSpPr>
              <p:nvPr/>
            </p:nvGrpSpPr>
            <p:grpSpPr bwMode="auto">
              <a:xfrm>
                <a:off x="2532" y="3108"/>
                <a:ext cx="452" cy="518"/>
                <a:chOff x="2532" y="3108"/>
                <a:chExt cx="452" cy="518"/>
              </a:xfrm>
            </p:grpSpPr>
            <p:sp>
              <p:nvSpPr>
                <p:cNvPr id="36977" name="Rectangle 307"/>
                <p:cNvSpPr>
                  <a:spLocks noChangeArrowheads="1"/>
                </p:cNvSpPr>
                <p:nvPr/>
              </p:nvSpPr>
              <p:spPr bwMode="auto">
                <a:xfrm>
                  <a:off x="2575" y="3108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$2.25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8" name="Rectangle 433"/>
                <p:cNvSpPr>
                  <a:spLocks noChangeArrowheads="1"/>
                </p:cNvSpPr>
                <p:nvPr/>
              </p:nvSpPr>
              <p:spPr bwMode="auto">
                <a:xfrm>
                  <a:off x="2532" y="3108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6" name="Group 436"/>
              <p:cNvGrpSpPr>
                <a:grpSpLocks/>
              </p:cNvGrpSpPr>
              <p:nvPr/>
            </p:nvGrpSpPr>
            <p:grpSpPr bwMode="auto">
              <a:xfrm>
                <a:off x="2984" y="3108"/>
                <a:ext cx="291" cy="518"/>
                <a:chOff x="2984" y="3108"/>
                <a:chExt cx="291" cy="518"/>
              </a:xfrm>
            </p:grpSpPr>
            <p:sp>
              <p:nvSpPr>
                <p:cNvPr id="36975" name="Rectangle 308"/>
                <p:cNvSpPr>
                  <a:spLocks noChangeArrowheads="1"/>
                </p:cNvSpPr>
                <p:nvPr/>
              </p:nvSpPr>
              <p:spPr bwMode="auto">
                <a:xfrm>
                  <a:off x="3027" y="3108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</a:t>
                  </a:r>
                </a:p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6" name="Rectangle 435"/>
                <p:cNvSpPr>
                  <a:spLocks noChangeArrowheads="1"/>
                </p:cNvSpPr>
                <p:nvPr/>
              </p:nvSpPr>
              <p:spPr bwMode="auto">
                <a:xfrm>
                  <a:off x="2984" y="3108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7" name="Group 438"/>
              <p:cNvGrpSpPr>
                <a:grpSpLocks/>
              </p:cNvGrpSpPr>
              <p:nvPr/>
            </p:nvGrpSpPr>
            <p:grpSpPr bwMode="auto">
              <a:xfrm>
                <a:off x="0" y="3626"/>
                <a:ext cx="335" cy="518"/>
                <a:chOff x="0" y="3626"/>
                <a:chExt cx="335" cy="518"/>
              </a:xfrm>
            </p:grpSpPr>
            <p:sp>
              <p:nvSpPr>
                <p:cNvPr id="36973" name="Rectangle 309"/>
                <p:cNvSpPr>
                  <a:spLocks noChangeArrowheads="1"/>
                </p:cNvSpPr>
                <p:nvPr/>
              </p:nvSpPr>
              <p:spPr bwMode="auto">
                <a:xfrm>
                  <a:off x="43" y="3626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1003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4" name="Rectangle 437"/>
                <p:cNvSpPr>
                  <a:spLocks noChangeArrowheads="1"/>
                </p:cNvSpPr>
                <p:nvPr/>
              </p:nvSpPr>
              <p:spPr bwMode="auto">
                <a:xfrm>
                  <a:off x="0" y="3626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8" name="Group 440"/>
              <p:cNvGrpSpPr>
                <a:grpSpLocks/>
              </p:cNvGrpSpPr>
              <p:nvPr/>
            </p:nvGrpSpPr>
            <p:grpSpPr bwMode="auto">
              <a:xfrm>
                <a:off x="335" y="3626"/>
                <a:ext cx="402" cy="518"/>
                <a:chOff x="335" y="3626"/>
                <a:chExt cx="402" cy="518"/>
              </a:xfrm>
            </p:grpSpPr>
            <p:sp>
              <p:nvSpPr>
                <p:cNvPr id="36971" name="Rectangle 310"/>
                <p:cNvSpPr>
                  <a:spLocks noChangeArrowheads="1"/>
                </p:cNvSpPr>
                <p:nvPr/>
              </p:nvSpPr>
              <p:spPr bwMode="auto">
                <a:xfrm>
                  <a:off x="378" y="3626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04/17/00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2" name="Rectangle 439"/>
                <p:cNvSpPr>
                  <a:spLocks noChangeArrowheads="1"/>
                </p:cNvSpPr>
                <p:nvPr/>
              </p:nvSpPr>
              <p:spPr bwMode="auto">
                <a:xfrm>
                  <a:off x="335" y="3626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9" name="Group 442"/>
              <p:cNvGrpSpPr>
                <a:grpSpLocks/>
              </p:cNvGrpSpPr>
              <p:nvPr/>
            </p:nvGrpSpPr>
            <p:grpSpPr bwMode="auto">
              <a:xfrm>
                <a:off x="737" y="3626"/>
                <a:ext cx="399" cy="518"/>
                <a:chOff x="737" y="3626"/>
                <a:chExt cx="399" cy="518"/>
              </a:xfrm>
            </p:grpSpPr>
            <p:sp>
              <p:nvSpPr>
                <p:cNvPr id="36969" name="Rectangle 311"/>
                <p:cNvSpPr>
                  <a:spLocks noChangeArrowheads="1"/>
                </p:cNvSpPr>
                <p:nvPr/>
              </p:nvSpPr>
              <p:spPr bwMode="auto">
                <a:xfrm>
                  <a:off x="780" y="3626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239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0" name="Rectangle 441"/>
                <p:cNvSpPr>
                  <a:spLocks noChangeArrowheads="1"/>
                </p:cNvSpPr>
                <p:nvPr/>
              </p:nvSpPr>
              <p:spPr bwMode="auto">
                <a:xfrm>
                  <a:off x="737" y="3626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0" name="Group 444"/>
              <p:cNvGrpSpPr>
                <a:grpSpLocks/>
              </p:cNvGrpSpPr>
              <p:nvPr/>
            </p:nvGrpSpPr>
            <p:grpSpPr bwMode="auto">
              <a:xfrm>
                <a:off x="1136" y="3626"/>
                <a:ext cx="405" cy="518"/>
                <a:chOff x="1136" y="3626"/>
                <a:chExt cx="405" cy="518"/>
              </a:xfrm>
            </p:grpSpPr>
            <p:sp>
              <p:nvSpPr>
                <p:cNvPr id="36967" name="Rectangle 312"/>
                <p:cNvSpPr>
                  <a:spLocks noChangeArrowheads="1"/>
                </p:cNvSpPr>
                <p:nvPr/>
              </p:nvSpPr>
              <p:spPr bwMode="auto">
                <a:xfrm>
                  <a:off x="1179" y="3626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8" name="Rectangle 443"/>
                <p:cNvSpPr>
                  <a:spLocks noChangeArrowheads="1"/>
                </p:cNvSpPr>
                <p:nvPr/>
              </p:nvSpPr>
              <p:spPr bwMode="auto">
                <a:xfrm>
                  <a:off x="1136" y="3626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1" name="Group 446"/>
              <p:cNvGrpSpPr>
                <a:grpSpLocks/>
              </p:cNvGrpSpPr>
              <p:nvPr/>
            </p:nvGrpSpPr>
            <p:grpSpPr bwMode="auto">
              <a:xfrm>
                <a:off x="1541" y="3626"/>
                <a:ext cx="518" cy="518"/>
                <a:chOff x="1541" y="3626"/>
                <a:chExt cx="518" cy="518"/>
              </a:xfrm>
            </p:grpSpPr>
            <p:sp>
              <p:nvSpPr>
                <p:cNvPr id="36965" name="Rectangle 313"/>
                <p:cNvSpPr>
                  <a:spLocks noChangeArrowheads="1"/>
                </p:cNvSpPr>
                <p:nvPr/>
              </p:nvSpPr>
              <p:spPr bwMode="auto">
                <a:xfrm>
                  <a:off x="1584" y="3626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Kapur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6" name="Rectangle 445"/>
                <p:cNvSpPr>
                  <a:spLocks noChangeArrowheads="1"/>
                </p:cNvSpPr>
                <p:nvPr/>
              </p:nvSpPr>
              <p:spPr bwMode="auto">
                <a:xfrm>
                  <a:off x="1541" y="3626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2" name="Group 448"/>
              <p:cNvGrpSpPr>
                <a:grpSpLocks/>
              </p:cNvGrpSpPr>
              <p:nvPr/>
            </p:nvGrpSpPr>
            <p:grpSpPr bwMode="auto">
              <a:xfrm>
                <a:off x="2059" y="3626"/>
                <a:ext cx="473" cy="518"/>
                <a:chOff x="2059" y="3626"/>
                <a:chExt cx="473" cy="518"/>
              </a:xfrm>
            </p:grpSpPr>
            <p:sp>
              <p:nvSpPr>
                <p:cNvPr id="36963" name="Rectangle 314"/>
                <p:cNvSpPr>
                  <a:spLocks noChangeArrowheads="1"/>
                </p:cNvSpPr>
                <p:nvPr/>
              </p:nvSpPr>
              <p:spPr bwMode="auto">
                <a:xfrm>
                  <a:off x="2102" y="3626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Nut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4" name="Rectangle 447"/>
                <p:cNvSpPr>
                  <a:spLocks noChangeArrowheads="1"/>
                </p:cNvSpPr>
                <p:nvPr/>
              </p:nvSpPr>
              <p:spPr bwMode="auto">
                <a:xfrm>
                  <a:off x="2059" y="3626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3" name="Group 450"/>
              <p:cNvGrpSpPr>
                <a:grpSpLocks/>
              </p:cNvGrpSpPr>
              <p:nvPr/>
            </p:nvGrpSpPr>
            <p:grpSpPr bwMode="auto">
              <a:xfrm>
                <a:off x="2532" y="3626"/>
                <a:ext cx="452" cy="518"/>
                <a:chOff x="2532" y="3626"/>
                <a:chExt cx="452" cy="518"/>
              </a:xfrm>
            </p:grpSpPr>
            <p:sp>
              <p:nvSpPr>
                <p:cNvPr id="36961" name="Rectangle 315"/>
                <p:cNvSpPr>
                  <a:spLocks noChangeArrowheads="1"/>
                </p:cNvSpPr>
                <p:nvPr/>
              </p:nvSpPr>
              <p:spPr bwMode="auto">
                <a:xfrm>
                  <a:off x="2575" y="3626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$5.00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2" name="Rectangle 449"/>
                <p:cNvSpPr>
                  <a:spLocks noChangeArrowheads="1"/>
                </p:cNvSpPr>
                <p:nvPr/>
              </p:nvSpPr>
              <p:spPr bwMode="auto">
                <a:xfrm>
                  <a:off x="2532" y="3626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4" name="Group 452"/>
              <p:cNvGrpSpPr>
                <a:grpSpLocks/>
              </p:cNvGrpSpPr>
              <p:nvPr/>
            </p:nvGrpSpPr>
            <p:grpSpPr bwMode="auto">
              <a:xfrm>
                <a:off x="2984" y="3626"/>
                <a:ext cx="291" cy="518"/>
                <a:chOff x="2984" y="3626"/>
                <a:chExt cx="291" cy="518"/>
              </a:xfrm>
            </p:grpSpPr>
            <p:sp>
              <p:nvSpPr>
                <p:cNvPr id="36959" name="Rectangle 316"/>
                <p:cNvSpPr>
                  <a:spLocks noChangeArrowheads="1"/>
                </p:cNvSpPr>
                <p:nvPr/>
              </p:nvSpPr>
              <p:spPr bwMode="auto">
                <a:xfrm>
                  <a:off x="3027" y="3626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0" name="Rectangle 451"/>
                <p:cNvSpPr>
                  <a:spLocks noChangeArrowheads="1"/>
                </p:cNvSpPr>
                <p:nvPr/>
              </p:nvSpPr>
              <p:spPr bwMode="auto">
                <a:xfrm>
                  <a:off x="2984" y="3626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5" name="Group 454"/>
              <p:cNvGrpSpPr>
                <a:grpSpLocks/>
              </p:cNvGrpSpPr>
              <p:nvPr/>
            </p:nvGrpSpPr>
            <p:grpSpPr bwMode="auto">
              <a:xfrm>
                <a:off x="0" y="4144"/>
                <a:ext cx="335" cy="518"/>
                <a:chOff x="0" y="4144"/>
                <a:chExt cx="335" cy="518"/>
              </a:xfrm>
            </p:grpSpPr>
            <p:sp>
              <p:nvSpPr>
                <p:cNvPr id="36957" name="Rectangle 317"/>
                <p:cNvSpPr>
                  <a:spLocks noChangeArrowheads="1"/>
                </p:cNvSpPr>
                <p:nvPr/>
              </p:nvSpPr>
              <p:spPr bwMode="auto">
                <a:xfrm>
                  <a:off x="43" y="4144"/>
                  <a:ext cx="24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1004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8" name="Rectangle 453"/>
                <p:cNvSpPr>
                  <a:spLocks noChangeArrowheads="1"/>
                </p:cNvSpPr>
                <p:nvPr/>
              </p:nvSpPr>
              <p:spPr bwMode="auto">
                <a:xfrm>
                  <a:off x="0" y="4144"/>
                  <a:ext cx="33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6" name="Group 456"/>
              <p:cNvGrpSpPr>
                <a:grpSpLocks/>
              </p:cNvGrpSpPr>
              <p:nvPr/>
            </p:nvGrpSpPr>
            <p:grpSpPr bwMode="auto">
              <a:xfrm>
                <a:off x="335" y="4144"/>
                <a:ext cx="402" cy="518"/>
                <a:chOff x="335" y="4144"/>
                <a:chExt cx="402" cy="518"/>
              </a:xfrm>
            </p:grpSpPr>
            <p:sp>
              <p:nvSpPr>
                <p:cNvPr id="36955" name="Rectangle 318"/>
                <p:cNvSpPr>
                  <a:spLocks noChangeArrowheads="1"/>
                </p:cNvSpPr>
                <p:nvPr/>
              </p:nvSpPr>
              <p:spPr bwMode="auto">
                <a:xfrm>
                  <a:off x="378" y="4144"/>
                  <a:ext cx="3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04/18/00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6" name="Rectangle 455"/>
                <p:cNvSpPr>
                  <a:spLocks noChangeArrowheads="1"/>
                </p:cNvSpPr>
                <p:nvPr/>
              </p:nvSpPr>
              <p:spPr bwMode="auto">
                <a:xfrm>
                  <a:off x="335" y="4144"/>
                  <a:ext cx="4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7" name="Group 458"/>
              <p:cNvGrpSpPr>
                <a:grpSpLocks/>
              </p:cNvGrpSpPr>
              <p:nvPr/>
            </p:nvGrpSpPr>
            <p:grpSpPr bwMode="auto">
              <a:xfrm>
                <a:off x="737" y="4144"/>
                <a:ext cx="399" cy="518"/>
                <a:chOff x="737" y="4144"/>
                <a:chExt cx="399" cy="518"/>
              </a:xfrm>
            </p:grpSpPr>
            <p:sp>
              <p:nvSpPr>
                <p:cNvPr id="36953" name="Rectangle 319"/>
                <p:cNvSpPr>
                  <a:spLocks noChangeArrowheads="1"/>
                </p:cNvSpPr>
                <p:nvPr/>
              </p:nvSpPr>
              <p:spPr bwMode="auto">
                <a:xfrm>
                  <a:off x="780" y="4144"/>
                  <a:ext cx="3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211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4" name="Rectangle 457"/>
                <p:cNvSpPr>
                  <a:spLocks noChangeArrowheads="1"/>
                </p:cNvSpPr>
                <p:nvPr/>
              </p:nvSpPr>
              <p:spPr bwMode="auto">
                <a:xfrm>
                  <a:off x="737" y="4144"/>
                  <a:ext cx="3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8" name="Group 460"/>
              <p:cNvGrpSpPr>
                <a:grpSpLocks/>
              </p:cNvGrpSpPr>
              <p:nvPr/>
            </p:nvGrpSpPr>
            <p:grpSpPr bwMode="auto">
              <a:xfrm>
                <a:off x="1136" y="4144"/>
                <a:ext cx="405" cy="518"/>
                <a:chOff x="1136" y="4144"/>
                <a:chExt cx="405" cy="518"/>
              </a:xfrm>
            </p:grpSpPr>
            <p:sp>
              <p:nvSpPr>
                <p:cNvPr id="36951" name="Rectangle 320"/>
                <p:cNvSpPr>
                  <a:spLocks noChangeArrowheads="1"/>
                </p:cNvSpPr>
                <p:nvPr/>
              </p:nvSpPr>
              <p:spPr bwMode="auto">
                <a:xfrm>
                  <a:off x="1179" y="4144"/>
                  <a:ext cx="31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2" name="Rectangle 459"/>
                <p:cNvSpPr>
                  <a:spLocks noChangeArrowheads="1"/>
                </p:cNvSpPr>
                <p:nvPr/>
              </p:nvSpPr>
              <p:spPr bwMode="auto">
                <a:xfrm>
                  <a:off x="1136" y="4144"/>
                  <a:ext cx="40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39" name="Group 462"/>
              <p:cNvGrpSpPr>
                <a:grpSpLocks/>
              </p:cNvGrpSpPr>
              <p:nvPr/>
            </p:nvGrpSpPr>
            <p:grpSpPr bwMode="auto">
              <a:xfrm>
                <a:off x="1541" y="4144"/>
                <a:ext cx="518" cy="518"/>
                <a:chOff x="1541" y="4144"/>
                <a:chExt cx="518" cy="518"/>
              </a:xfrm>
            </p:grpSpPr>
            <p:sp>
              <p:nvSpPr>
                <p:cNvPr id="36949" name="Rectangle 321"/>
                <p:cNvSpPr>
                  <a:spLocks noChangeArrowheads="1"/>
                </p:cNvSpPr>
                <p:nvPr/>
              </p:nvSpPr>
              <p:spPr bwMode="auto">
                <a:xfrm>
                  <a:off x="1584" y="4144"/>
                  <a:ext cx="43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Garcia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0" name="Rectangle 461"/>
                <p:cNvSpPr>
                  <a:spLocks noChangeArrowheads="1"/>
                </p:cNvSpPr>
                <p:nvPr/>
              </p:nvSpPr>
              <p:spPr bwMode="auto">
                <a:xfrm>
                  <a:off x="1541" y="4144"/>
                  <a:ext cx="51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40" name="Group 464"/>
              <p:cNvGrpSpPr>
                <a:grpSpLocks/>
              </p:cNvGrpSpPr>
              <p:nvPr/>
            </p:nvGrpSpPr>
            <p:grpSpPr bwMode="auto">
              <a:xfrm>
                <a:off x="2059" y="4144"/>
                <a:ext cx="473" cy="518"/>
                <a:chOff x="2059" y="4144"/>
                <a:chExt cx="473" cy="518"/>
              </a:xfrm>
            </p:grpSpPr>
            <p:sp>
              <p:nvSpPr>
                <p:cNvPr id="36947" name="Rectangle 322"/>
                <p:cNvSpPr>
                  <a:spLocks noChangeArrowheads="1"/>
                </p:cNvSpPr>
                <p:nvPr/>
              </p:nvSpPr>
              <p:spPr bwMode="auto">
                <a:xfrm>
                  <a:off x="2102" y="4144"/>
                  <a:ext cx="387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Hammer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8" name="Rectangle 463"/>
                <p:cNvSpPr>
                  <a:spLocks noChangeArrowheads="1"/>
                </p:cNvSpPr>
                <p:nvPr/>
              </p:nvSpPr>
              <p:spPr bwMode="auto">
                <a:xfrm>
                  <a:off x="2059" y="4144"/>
                  <a:ext cx="473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41" name="Group 466"/>
              <p:cNvGrpSpPr>
                <a:grpSpLocks/>
              </p:cNvGrpSpPr>
              <p:nvPr/>
            </p:nvGrpSpPr>
            <p:grpSpPr bwMode="auto">
              <a:xfrm>
                <a:off x="2532" y="4144"/>
                <a:ext cx="452" cy="518"/>
                <a:chOff x="2532" y="4144"/>
                <a:chExt cx="452" cy="518"/>
              </a:xfrm>
            </p:grpSpPr>
            <p:sp>
              <p:nvSpPr>
                <p:cNvPr id="36945" name="Rectangle 323"/>
                <p:cNvSpPr>
                  <a:spLocks noChangeArrowheads="1"/>
                </p:cNvSpPr>
                <p:nvPr/>
              </p:nvSpPr>
              <p:spPr bwMode="auto">
                <a:xfrm>
                  <a:off x="2575" y="4144"/>
                  <a:ext cx="36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$9.99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6" name="Rectangle 465"/>
                <p:cNvSpPr>
                  <a:spLocks noChangeArrowheads="1"/>
                </p:cNvSpPr>
                <p:nvPr/>
              </p:nvSpPr>
              <p:spPr bwMode="auto">
                <a:xfrm>
                  <a:off x="2532" y="4144"/>
                  <a:ext cx="45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42" name="Group 468"/>
              <p:cNvGrpSpPr>
                <a:grpSpLocks/>
              </p:cNvGrpSpPr>
              <p:nvPr/>
            </p:nvGrpSpPr>
            <p:grpSpPr bwMode="auto">
              <a:xfrm>
                <a:off x="2984" y="4144"/>
                <a:ext cx="291" cy="518"/>
                <a:chOff x="2984" y="4144"/>
                <a:chExt cx="291" cy="518"/>
              </a:xfrm>
            </p:grpSpPr>
            <p:sp>
              <p:nvSpPr>
                <p:cNvPr id="36943" name="Rectangle 324"/>
                <p:cNvSpPr>
                  <a:spLocks noChangeArrowheads="1"/>
                </p:cNvSpPr>
                <p:nvPr/>
              </p:nvSpPr>
              <p:spPr bwMode="auto">
                <a:xfrm>
                  <a:off x="3027" y="4144"/>
                  <a:ext cx="205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4" name="Rectangle 467"/>
                <p:cNvSpPr>
                  <a:spLocks noChangeArrowheads="1"/>
                </p:cNvSpPr>
                <p:nvPr/>
              </p:nvSpPr>
              <p:spPr bwMode="auto">
                <a:xfrm>
                  <a:off x="2984" y="4144"/>
                  <a:ext cx="291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6870" name="Rectangle 470"/>
            <p:cNvSpPr>
              <a:spLocks noChangeArrowheads="1"/>
            </p:cNvSpPr>
            <p:nvPr/>
          </p:nvSpPr>
          <p:spPr bwMode="auto">
            <a:xfrm>
              <a:off x="-3" y="-3"/>
              <a:ext cx="3281" cy="4668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6868" name="Text Box 473"/>
          <p:cNvSpPr txBox="1">
            <a:spLocks noChangeArrowheads="1"/>
          </p:cNvSpPr>
          <p:nvPr/>
        </p:nvSpPr>
        <p:spPr bwMode="auto">
          <a:xfrm>
            <a:off x="1066800" y="4876800"/>
            <a:ext cx="7543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buClr>
                <a:schemeClr val="tx1"/>
              </a:buClr>
            </a:pPr>
            <a:r>
              <a:rPr lang="en-US" altLang="en-US" sz="1800"/>
              <a:t>ItemNo =&gt; ItemName, ItemPrice                (partial dependency)</a:t>
            </a:r>
          </a:p>
          <a:p>
            <a:pPr>
              <a:buClr>
                <a:schemeClr val="tx1"/>
              </a:buClr>
            </a:pPr>
            <a:r>
              <a:rPr lang="en-US" altLang="en-US" sz="1800"/>
              <a:t>InvNo =&gt; InvDate, CustNo, CustName      (partial dependency)</a:t>
            </a:r>
          </a:p>
          <a:p>
            <a:pPr>
              <a:buClr>
                <a:schemeClr val="tx1"/>
              </a:buClr>
            </a:pPr>
            <a:r>
              <a:rPr lang="en-US" altLang="en-US" sz="1800"/>
              <a:t>InvNo, ItemNo =&gt;  Qty                              (total dependency)</a:t>
            </a:r>
          </a:p>
          <a:p>
            <a:pPr eaLnBrk="1" hangingPunct="1">
              <a:spcBef>
                <a:spcPct val="0"/>
              </a:spcBef>
              <a:buClrTx/>
              <a:buSzTx/>
            </a:pPr>
            <a:r>
              <a:rPr lang="en-US" altLang="en-US" sz="1800">
                <a:latin typeface="Times New Roman" panose="02020603050405020304" pitchFamily="18" charset="0"/>
              </a:rPr>
              <a:t>Attribute CustName shows transitive dependency on CustNo.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59131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/>
              <a:t>0NF to 1NF – examples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DE0AC81-4ED0-4977-8952-F874828BA718}" type="slidenum">
              <a:rPr lang="en-US" altLang="en-US">
                <a:solidFill>
                  <a:srgbClr val="045C75"/>
                </a:solidFill>
              </a:rPr>
              <a:pPr eaLnBrk="1" hangingPunct="1"/>
              <a:t>33</a:t>
            </a:fld>
            <a:endParaRPr lang="en-US" altLang="en-US">
              <a:solidFill>
                <a:srgbClr val="045C75"/>
              </a:solidFill>
            </a:endParaRPr>
          </a:p>
        </p:txBody>
      </p:sp>
      <p:pic>
        <p:nvPicPr>
          <p:cNvPr id="3789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2767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590800"/>
            <a:ext cx="45481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305800" cy="6278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Normal Forms</a:t>
            </a: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1219200" y="1676400"/>
            <a:ext cx="7315200" cy="31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b="1" dirty="0" smtClean="0">
                <a:cs typeface="+mn-cs"/>
              </a:rPr>
              <a:t>Second Normal Form (2NF)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All 1NF requirements are satisfied.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There is no partial dependency, i.e., Partial dependency means “A non-key attribute is dependent on part of the primary key”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Do all attributes outside of the key functionally depend on the full key?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 relation is in 2NF if and only if it is in 1NF, and every non-key attribute is fully dependent on the primary key.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305800" cy="667512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1NF to 2NF</a:t>
            </a:r>
          </a:p>
        </p:txBody>
      </p:sp>
      <p:sp>
        <p:nvSpPr>
          <p:cNvPr id="39939" name="Rectangle 84"/>
          <p:cNvSpPr>
            <a:spLocks noChangeArrowheads="1"/>
          </p:cNvSpPr>
          <p:nvPr/>
        </p:nvSpPr>
        <p:spPr bwMode="auto">
          <a:xfrm>
            <a:off x="1295400" y="17526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4" name="Rectangle 85"/>
          <p:cNvSpPr>
            <a:spLocks noChangeArrowheads="1"/>
          </p:cNvSpPr>
          <p:nvPr/>
        </p:nvSpPr>
        <p:spPr bwMode="auto">
          <a:xfrm>
            <a:off x="533400" y="1697038"/>
            <a:ext cx="7924800" cy="409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b="1" dirty="0" smtClean="0">
                <a:cs typeface="+mn-cs"/>
              </a:rPr>
              <a:t>(Removal of partial dependencies)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Write each primary key component (with partial dependency on it) on a separate line.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Write composite key on the next line.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2000" dirty="0" smtClean="0">
              <a:cs typeface="+mn-cs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b="1" dirty="0" smtClean="0">
                <a:cs typeface="+mn-cs"/>
              </a:rPr>
              <a:t>INVOICE table decomposed into 2NF (3 tables):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dirty="0" smtClean="0">
                <a:cs typeface="+mn-cs"/>
              </a:rPr>
              <a:t>INV (</a:t>
            </a:r>
            <a:r>
              <a:rPr lang="en-US" altLang="en-US" sz="2000" u="sng" dirty="0" smtClean="0">
                <a:cs typeface="+mn-cs"/>
              </a:rPr>
              <a:t>InvNo</a:t>
            </a:r>
            <a:r>
              <a:rPr lang="en-US" altLang="en-US" sz="2000" dirty="0" smtClean="0">
                <a:cs typeface="+mn-cs"/>
              </a:rPr>
              <a:t>, InvDate, CustNo, CustName)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dirty="0" smtClean="0">
                <a:cs typeface="+mn-cs"/>
              </a:rPr>
              <a:t>ITEM (</a:t>
            </a:r>
            <a:r>
              <a:rPr lang="en-US" altLang="en-US" sz="2000" u="sng" dirty="0" smtClean="0">
                <a:cs typeface="+mn-cs"/>
              </a:rPr>
              <a:t>ItemNo</a:t>
            </a:r>
            <a:r>
              <a:rPr lang="en-US" altLang="en-US" sz="2000" dirty="0" smtClean="0">
                <a:cs typeface="+mn-cs"/>
              </a:rPr>
              <a:t>, ItemName, ItemPrice)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dirty="0" smtClean="0">
                <a:cs typeface="+mn-cs"/>
              </a:rPr>
              <a:t>INVITEM (</a:t>
            </a:r>
            <a:r>
              <a:rPr lang="en-US" altLang="en-US" sz="2000" u="sng" dirty="0" smtClean="0">
                <a:cs typeface="+mn-cs"/>
              </a:rPr>
              <a:t>InvNo</a:t>
            </a:r>
            <a:r>
              <a:rPr lang="en-US" altLang="en-US" sz="2000" dirty="0" smtClean="0">
                <a:cs typeface="+mn-cs"/>
              </a:rPr>
              <a:t>, </a:t>
            </a:r>
            <a:r>
              <a:rPr lang="en-US" altLang="en-US" sz="2000" u="sng" dirty="0" smtClean="0">
                <a:cs typeface="+mn-cs"/>
              </a:rPr>
              <a:t>ItemNo</a:t>
            </a:r>
            <a:r>
              <a:rPr lang="en-US" altLang="en-US" sz="2000" dirty="0" smtClean="0">
                <a:cs typeface="+mn-cs"/>
              </a:rPr>
              <a:t>, Qty)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3058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1NF to </a:t>
            </a:r>
            <a:r>
              <a:rPr lang="en-US" altLang="en-US" sz="3600" b="1" dirty="0" smtClean="0"/>
              <a:t>2NF - examples</a:t>
            </a:r>
            <a:endParaRPr lang="en-US" altLang="en-US" sz="3600" b="1" dirty="0"/>
          </a:p>
        </p:txBody>
      </p:sp>
      <p:sp>
        <p:nvSpPr>
          <p:cNvPr id="40963" name="Rectangle 84"/>
          <p:cNvSpPr>
            <a:spLocks noChangeArrowheads="1"/>
          </p:cNvSpPr>
          <p:nvPr/>
        </p:nvSpPr>
        <p:spPr bwMode="auto">
          <a:xfrm>
            <a:off x="1295400" y="17526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0964" name="Rectangle 85"/>
          <p:cNvSpPr>
            <a:spLocks noChangeArrowheads="1"/>
          </p:cNvSpPr>
          <p:nvPr/>
        </p:nvSpPr>
        <p:spPr bwMode="auto">
          <a:xfrm>
            <a:off x="762000" y="1219200"/>
            <a:ext cx="7696200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INVOICE table decomposed into 2NF (3 tables):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INV (</a:t>
            </a:r>
            <a:r>
              <a:rPr lang="en-US" altLang="en-US" sz="2000" u="sng">
                <a:latin typeface="Times New Roman" panose="02020603050405020304" pitchFamily="18" charset="0"/>
              </a:rPr>
              <a:t>InvNo</a:t>
            </a:r>
            <a:r>
              <a:rPr lang="en-US" altLang="en-US" sz="2000">
                <a:latin typeface="Times New Roman" panose="02020603050405020304" pitchFamily="18" charset="0"/>
              </a:rPr>
              <a:t>, InvDate, CustNo, CustName)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ITEM (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ItemName, ItemPrice)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INVITEM (</a:t>
            </a:r>
            <a:r>
              <a:rPr lang="en-US" altLang="en-US" sz="2000" u="sng">
                <a:latin typeface="Times New Roman" panose="02020603050405020304" pitchFamily="18" charset="0"/>
              </a:rPr>
              <a:t>InvNo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Qty)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Order Table decomposed into 2 tables: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ORDER (</a:t>
            </a:r>
            <a:r>
              <a:rPr lang="en-US" altLang="en-US" sz="1800" u="sng">
                <a:latin typeface="Times New Roman" panose="02020603050405020304" pitchFamily="18" charset="0"/>
              </a:rPr>
              <a:t>ItemNo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u="sng">
                <a:latin typeface="Times New Roman" panose="02020603050405020304" pitchFamily="18" charset="0"/>
              </a:rPr>
              <a:t>CustomerId</a:t>
            </a:r>
            <a:r>
              <a:rPr lang="en-US" altLang="en-US" sz="1800">
                <a:latin typeface="Times New Roman" panose="02020603050405020304" pitchFamily="18" charset="0"/>
              </a:rPr>
              <a:t>, Quantity, CustomerCredit)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has partial dependencies</a:t>
            </a:r>
            <a:r>
              <a:rPr lang="en-US" altLang="en-US" sz="18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           </a:t>
            </a:r>
            <a:r>
              <a:rPr lang="en-US" altLang="en-US" sz="1800" u="sng">
                <a:latin typeface="Times New Roman" panose="02020603050405020304" pitchFamily="18" charset="0"/>
              </a:rPr>
              <a:t>ItemNo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  <a:r>
              <a:rPr lang="en-US" altLang="en-US" sz="1800" u="sng">
                <a:latin typeface="Times New Roman" panose="02020603050405020304" pitchFamily="18" charset="0"/>
              </a:rPr>
              <a:t>CustomerId</a:t>
            </a:r>
            <a:r>
              <a:rPr lang="en-US" altLang="en-US" sz="1800">
                <a:latin typeface="Times New Roman" panose="02020603050405020304" pitchFamily="18" charset="0"/>
              </a:rPr>
              <a:t> -&gt; Quantity;    </a:t>
            </a:r>
            <a:r>
              <a:rPr lang="en-US" altLang="en-US" sz="1800" u="sng">
                <a:latin typeface="Times New Roman" panose="02020603050405020304" pitchFamily="18" charset="0"/>
              </a:rPr>
              <a:t>CustomerId</a:t>
            </a:r>
            <a:r>
              <a:rPr lang="en-US" altLang="en-US" sz="1800">
                <a:latin typeface="Times New Roman" panose="02020603050405020304" pitchFamily="18" charset="0"/>
              </a:rPr>
              <a:t> -&gt; CustomerCredit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               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resolved to:</a:t>
            </a:r>
            <a:r>
              <a:rPr lang="en-US" altLang="en-US" sz="2000">
                <a:latin typeface="Times New Roman" panose="02020603050405020304" pitchFamily="18" charset="0"/>
              </a:rPr>
              <a:t>    ITEM (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,...)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                        CUSTOMER (</a:t>
            </a:r>
            <a:r>
              <a:rPr lang="en-US" altLang="en-US" sz="2000" u="sng">
                <a:latin typeface="Times New Roman" panose="02020603050405020304" pitchFamily="18" charset="0"/>
              </a:rPr>
              <a:t>CustomerId</a:t>
            </a:r>
            <a:r>
              <a:rPr lang="en-US" altLang="en-US" sz="2000">
                <a:latin typeface="Times New Roman" panose="02020603050405020304" pitchFamily="18" charset="0"/>
              </a:rPr>
              <a:t>, CustomerCredit,...)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                        ORDER (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latin typeface="Times New Roman" panose="02020603050405020304" pitchFamily="18" charset="0"/>
              </a:rPr>
              <a:t>CustomerId</a:t>
            </a:r>
            <a:r>
              <a:rPr lang="en-US" altLang="en-US" sz="2000">
                <a:latin typeface="Times New Roman" panose="02020603050405020304" pitchFamily="18" charset="0"/>
              </a:rPr>
              <a:t>,, Quantity)</a:t>
            </a:r>
            <a:endParaRPr lang="en-US" altLang="en-US" sz="20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305800" cy="6278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Normal Forms</a:t>
            </a: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1219200" y="1676400"/>
            <a:ext cx="7315200" cy="455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b="1" dirty="0" smtClean="0">
                <a:cs typeface="+mn-cs"/>
              </a:rPr>
              <a:t>Third Normal Form (3NF)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All 2NF requirements are fulfilled.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There is no transitive dependency. 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+mn-cs"/>
              </a:rPr>
              <a:t>T</a:t>
            </a:r>
            <a:r>
              <a:rPr lang="en-US" altLang="en-US" sz="2000" dirty="0" smtClean="0">
                <a:cs typeface="+mn-cs"/>
              </a:rPr>
              <a:t>ransitive dependencies means: “A non-key attribute is dependent on another non-key attribute”.   A </a:t>
            </a:r>
            <a:r>
              <a:rPr lang="en-US" altLang="en-US" sz="2000" dirty="0" smtClean="0">
                <a:cs typeface="+mn-cs"/>
                <a:sym typeface="Wingdings" panose="05000000000000000000" pitchFamily="2" charset="2"/>
              </a:rPr>
              <a:t> B,  B  C</a:t>
            </a:r>
            <a:endParaRPr lang="en-US" altLang="en-US" sz="2000" dirty="0" smtClean="0">
              <a:cs typeface="+mn-cs"/>
            </a:endParaRP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+mn-cs"/>
              </a:rPr>
              <a:t>e</a:t>
            </a:r>
            <a:r>
              <a:rPr lang="en-US" altLang="en-US" sz="2000" dirty="0" smtClean="0">
                <a:cs typeface="+mn-cs"/>
              </a:rPr>
              <a:t>.g., In INV table, InvNo </a:t>
            </a:r>
            <a:r>
              <a:rPr lang="en-US" altLang="en-US" sz="2000" dirty="0" smtClean="0">
                <a:cs typeface="+mn-cs"/>
                <a:sym typeface="Wingdings" panose="05000000000000000000" pitchFamily="2" charset="2"/>
              </a:rPr>
              <a:t> InvDate, CustNo;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dirty="0" smtClean="0">
                <a:cs typeface="+mn-cs"/>
                <a:sym typeface="Wingdings" panose="05000000000000000000" pitchFamily="2" charset="2"/>
              </a:rPr>
              <a:t>                                   CustNo  CustName</a:t>
            </a:r>
            <a:endParaRPr lang="en-US" altLang="en-US" sz="2000" dirty="0" smtClean="0">
              <a:cs typeface="+mn-cs"/>
            </a:endParaRP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Do any of the attributes outside of the key functionally depend on each other?</a:t>
            </a:r>
          </a:p>
          <a:p>
            <a:pPr marL="285750" indent="-285750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>
                <a:cs typeface="+mn-cs"/>
              </a:rPr>
              <a:t>A relation is in 3NF if and only if it is in 2NF and has no transitive dependencies.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3058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2NF to </a:t>
            </a:r>
            <a:r>
              <a:rPr lang="en-US" altLang="en-US" sz="3600" b="1" dirty="0" smtClean="0"/>
              <a:t>3NF</a:t>
            </a:r>
            <a:endParaRPr lang="en-US" altLang="en-US" sz="3600" b="1" dirty="0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381000" y="1371600"/>
            <a:ext cx="79248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All 2NF requirements are fulfilled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There is no transitive dependency. 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Transitive dependencies: A nonkey attribute is dependent on another nonkey attribute. A =&gt; B, </a:t>
            </a:r>
            <a:r>
              <a:rPr lang="en-US" altLang="en-US" sz="2000" b="1">
                <a:latin typeface="Times New Roman" panose="02020603050405020304" pitchFamily="18" charset="0"/>
              </a:rPr>
              <a:t>B =&gt; C</a:t>
            </a:r>
            <a:r>
              <a:rPr lang="en-US" altLang="en-US" sz="2000">
                <a:latin typeface="Times New Roman" panose="02020603050405020304" pitchFamily="18" charset="0"/>
              </a:rPr>
              <a:t/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            e.g., In INV table,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            InvNo -&gt; InvDate, CustNo;   </a:t>
            </a:r>
            <a:r>
              <a:rPr lang="en-US" altLang="en-US" sz="2000" b="1">
                <a:latin typeface="Times New Roman" panose="02020603050405020304" pitchFamily="18" charset="0"/>
              </a:rPr>
              <a:t>CustNo -&gt; CustName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Do any of the attributes outside of the key functionally depend on each other?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A relation is in 3NF if and only if it is in 2NF and has no transitive dependencies. </a:t>
            </a:r>
            <a:br>
              <a:rPr lang="en-US" altLang="en-US" sz="2000">
                <a:latin typeface="Times New Roman" panose="02020603050405020304" pitchFamily="18" charset="0"/>
              </a:rPr>
            </a:br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3058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1NF to </a:t>
            </a:r>
            <a:r>
              <a:rPr lang="en-US" altLang="en-US" sz="3600" b="1" dirty="0" smtClean="0"/>
              <a:t>2NF - examples</a:t>
            </a:r>
            <a:endParaRPr lang="en-US" altLang="en-US" sz="3600" b="1" dirty="0"/>
          </a:p>
        </p:txBody>
      </p:sp>
      <p:sp>
        <p:nvSpPr>
          <p:cNvPr id="44035" name="Rectangle 84"/>
          <p:cNvSpPr>
            <a:spLocks noChangeArrowheads="1"/>
          </p:cNvSpPr>
          <p:nvPr/>
        </p:nvSpPr>
        <p:spPr bwMode="auto">
          <a:xfrm>
            <a:off x="1295400" y="17526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4036" name="Rectangle 85"/>
          <p:cNvSpPr>
            <a:spLocks noChangeArrowheads="1"/>
          </p:cNvSpPr>
          <p:nvPr/>
        </p:nvSpPr>
        <p:spPr bwMode="auto">
          <a:xfrm>
            <a:off x="762000" y="1524000"/>
            <a:ext cx="7696200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INVOICE table decomposed into 2NF (3 tables):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INV (</a:t>
            </a:r>
            <a:r>
              <a:rPr lang="en-US" altLang="en-US" sz="2000" u="sng">
                <a:latin typeface="Times New Roman" panose="02020603050405020304" pitchFamily="18" charset="0"/>
              </a:rPr>
              <a:t>InvNo</a:t>
            </a:r>
            <a:r>
              <a:rPr lang="en-US" altLang="en-US" sz="2000">
                <a:latin typeface="Times New Roman" panose="02020603050405020304" pitchFamily="18" charset="0"/>
              </a:rPr>
              <a:t>, InvDate, CustNo, CustName)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ITEM (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ItemName, ItemPrice)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INVITEM (</a:t>
            </a:r>
            <a:r>
              <a:rPr lang="en-US" altLang="en-US" sz="2000" u="sng">
                <a:latin typeface="Times New Roman" panose="02020603050405020304" pitchFamily="18" charset="0"/>
              </a:rPr>
              <a:t>InvNo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Qty)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Stock Table decomposed into 2 tables: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 b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Stock (</a:t>
            </a:r>
            <a:r>
              <a:rPr lang="en-US" altLang="en-US" sz="2000" u="sng">
                <a:latin typeface="Times New Roman" panose="02020603050405020304" pitchFamily="18" charset="0"/>
              </a:rPr>
              <a:t>StockCode</a:t>
            </a:r>
            <a:r>
              <a:rPr lang="en-US" altLang="en-US" sz="2000">
                <a:latin typeface="Times New Roman" panose="02020603050405020304" pitchFamily="18" charset="0"/>
              </a:rPr>
              <a:t>, Nation, ExchangeRate)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dependencies: </a:t>
            </a:r>
            <a:r>
              <a:rPr lang="en-US" altLang="en-US" sz="1600" u="sng">
                <a:latin typeface="Times New Roman" panose="02020603050405020304" pitchFamily="18" charset="0"/>
              </a:rPr>
              <a:t>StockCode</a:t>
            </a:r>
            <a:r>
              <a:rPr lang="en-US" altLang="en-US" sz="1600">
                <a:latin typeface="Times New Roman" panose="02020603050405020304" pitchFamily="18" charset="0"/>
              </a:rPr>
              <a:t> -&gt; Nation,    Nation -&gt; ExchangeRate</a:t>
            </a:r>
            <a:r>
              <a:rPr lang="en-US" altLang="en-US" sz="2000">
                <a:latin typeface="Times New Roman" panose="02020603050405020304" pitchFamily="18" charset="0"/>
              </a:rPr>
              <a:t>    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       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resolved to:</a:t>
            </a:r>
            <a:r>
              <a:rPr lang="en-US" altLang="en-US" sz="2000">
                <a:latin typeface="Times New Roman" panose="02020603050405020304" pitchFamily="18" charset="0"/>
              </a:rPr>
              <a:t>    Stock (</a:t>
            </a:r>
            <a:r>
              <a:rPr lang="en-US" altLang="en-US" sz="2000" u="sng">
                <a:latin typeface="Times New Roman" panose="02020603050405020304" pitchFamily="18" charset="0"/>
              </a:rPr>
              <a:t>StockCode</a:t>
            </a:r>
            <a:r>
              <a:rPr lang="en-US" altLang="en-US" sz="2000">
                <a:latin typeface="Times New Roman" panose="02020603050405020304" pitchFamily="18" charset="0"/>
              </a:rPr>
              <a:t>, Nation, StockPrice, ...)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                        Nation (</a:t>
            </a:r>
            <a:r>
              <a:rPr lang="en-US" altLang="en-US" sz="2000" u="sng">
                <a:latin typeface="Times New Roman" panose="02020603050405020304" pitchFamily="18" charset="0"/>
              </a:rPr>
              <a:t>NationCode</a:t>
            </a:r>
            <a:r>
              <a:rPr lang="en-US" altLang="en-US" sz="2000">
                <a:latin typeface="Times New Roman" panose="02020603050405020304" pitchFamily="18" charset="0"/>
              </a:rPr>
              <a:t>, NationName, ExchangeRate,...)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22098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2NF to </a:t>
            </a:r>
            <a:r>
              <a:rPr lang="en-US" altLang="en-US" sz="3600" b="1" dirty="0" smtClean="0"/>
              <a:t>3NF</a:t>
            </a:r>
            <a:endParaRPr lang="en-US" altLang="en-US" sz="3600" b="1" dirty="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228600" y="1143000"/>
            <a:ext cx="8534400" cy="538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Removal of transitive dependencies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Move attributes with transitive dependency to a new table.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Keep the primary key of the new table as the foreign key in the existing table.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e.g., Database in 3NF: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INV (</a:t>
            </a:r>
            <a:r>
              <a:rPr lang="en-US" altLang="en-US" sz="2000" u="sng">
                <a:latin typeface="Times New Roman" panose="02020603050405020304" pitchFamily="18" charset="0"/>
              </a:rPr>
              <a:t>InvNo</a:t>
            </a:r>
            <a:r>
              <a:rPr lang="en-US" altLang="en-US" sz="2000">
                <a:latin typeface="Times New Roman" panose="02020603050405020304" pitchFamily="18" charset="0"/>
              </a:rPr>
              <a:t>, InvDate, CustNo)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CUSTOMER (</a:t>
            </a:r>
            <a:r>
              <a:rPr lang="en-US" altLang="en-US" sz="2000" u="sng">
                <a:latin typeface="Times New Roman" panose="02020603050405020304" pitchFamily="18" charset="0"/>
              </a:rPr>
              <a:t>CustNo</a:t>
            </a:r>
            <a:r>
              <a:rPr lang="en-US" altLang="en-US" sz="2000">
                <a:latin typeface="Times New Roman" panose="02020603050405020304" pitchFamily="18" charset="0"/>
              </a:rPr>
              <a:t>, CustName)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ITEM (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ItemName, ItemPrice)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INVITEM (</a:t>
            </a:r>
            <a:r>
              <a:rPr lang="en-US" altLang="en-US" sz="2000" u="sng">
                <a:latin typeface="Times New Roman" panose="02020603050405020304" pitchFamily="18" charset="0"/>
              </a:rPr>
              <a:t>InvNo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latin typeface="Times New Roman" panose="02020603050405020304" pitchFamily="18" charset="0"/>
              </a:rPr>
              <a:t>ItemNo</a:t>
            </a:r>
            <a:r>
              <a:rPr lang="en-US" altLang="en-US" sz="2000">
                <a:latin typeface="Times New Roman" panose="02020603050405020304" pitchFamily="18" charset="0"/>
              </a:rPr>
              <a:t>, Qty)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 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Stock Table decomposed into 2 tables: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 b="1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Stock (</a:t>
            </a:r>
            <a:r>
              <a:rPr lang="en-US" altLang="en-US" sz="1800" u="sng">
                <a:latin typeface="Times New Roman" panose="02020603050405020304" pitchFamily="18" charset="0"/>
              </a:rPr>
              <a:t>StockCode</a:t>
            </a:r>
            <a:r>
              <a:rPr lang="en-US" altLang="en-US" sz="1800">
                <a:latin typeface="Times New Roman" panose="02020603050405020304" pitchFamily="18" charset="0"/>
              </a:rPr>
              <a:t>, Nation, ExchangeRate)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dependencies: </a:t>
            </a:r>
            <a:r>
              <a:rPr lang="en-US" altLang="en-US" sz="1800" u="sng">
                <a:latin typeface="Times New Roman" panose="02020603050405020304" pitchFamily="18" charset="0"/>
              </a:rPr>
              <a:t>StockCode</a:t>
            </a:r>
            <a:r>
              <a:rPr lang="en-US" altLang="en-US" sz="1800">
                <a:latin typeface="Times New Roman" panose="02020603050405020304" pitchFamily="18" charset="0"/>
              </a:rPr>
              <a:t> -&gt; Nation,    Nation -&gt; ExchangeRate     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        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resolved to:</a:t>
            </a:r>
            <a:r>
              <a:rPr lang="en-US" altLang="en-US" sz="1800">
                <a:latin typeface="Times New Roman" panose="02020603050405020304" pitchFamily="18" charset="0"/>
              </a:rPr>
              <a:t>    Stock (</a:t>
            </a:r>
            <a:r>
              <a:rPr lang="en-US" altLang="en-US" sz="1800" u="sng">
                <a:latin typeface="Times New Roman" panose="02020603050405020304" pitchFamily="18" charset="0"/>
              </a:rPr>
              <a:t>StockCode</a:t>
            </a:r>
            <a:r>
              <a:rPr lang="en-US" altLang="en-US" sz="1800">
                <a:latin typeface="Times New Roman" panose="02020603050405020304" pitchFamily="18" charset="0"/>
              </a:rPr>
              <a:t>, Nation, StockPrice, ...)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                        Nation (</a:t>
            </a:r>
            <a:r>
              <a:rPr lang="en-US" altLang="en-US" sz="1800" u="sng">
                <a:latin typeface="Times New Roman" panose="02020603050405020304" pitchFamily="18" charset="0"/>
              </a:rPr>
              <a:t>NationCode</a:t>
            </a:r>
            <a:r>
              <a:rPr lang="en-US" altLang="en-US" sz="1800">
                <a:latin typeface="Times New Roman" panose="02020603050405020304" pitchFamily="18" charset="0"/>
              </a:rPr>
              <a:t>, NationName, ExchangeRate,...)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76962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 smtClean="0"/>
              <a:t>Boyce-</a:t>
            </a:r>
            <a:r>
              <a:rPr lang="en-US" altLang="en-US" sz="3600" b="1" dirty="0" err="1" smtClean="0"/>
              <a:t>Codd</a:t>
            </a:r>
            <a:r>
              <a:rPr lang="en-US" altLang="en-US" sz="3600" b="1" dirty="0" smtClean="0"/>
              <a:t> </a:t>
            </a:r>
            <a:r>
              <a:rPr lang="en-US" altLang="en-US" sz="3600" b="1" dirty="0"/>
              <a:t>Normal Form (BCNF) 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381000" y="1143000"/>
            <a:ext cx="79248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1143000"/>
            <a:ext cx="822960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Times New Roman" pitchFamily="18" charset="0"/>
              </a:rPr>
              <a:t>A stronger version of 3NF</a:t>
            </a:r>
            <a:endParaRPr lang="en-US" altLang="en-US" sz="2000" dirty="0">
              <a:cs typeface="+mn-cs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Times New Roman" pitchFamily="18" charset="0"/>
              </a:rPr>
              <a:t>3NF does not cover the case when a relation</a:t>
            </a:r>
            <a:r>
              <a:rPr lang="en-US" altLang="en-US" sz="2000" dirty="0">
                <a:cs typeface="+mn-cs"/>
              </a:rPr>
              <a:t> </a:t>
            </a:r>
            <a:r>
              <a:rPr lang="en-US" altLang="en-US" sz="2000" dirty="0">
                <a:cs typeface="Times New Roman" pitchFamily="18" charset="0"/>
              </a:rPr>
              <a:t>has multiple candidate keys, where those candidate keys are composite, and the candidate keys overlap because they have at least one column in common.</a:t>
            </a:r>
            <a:endParaRPr lang="en-US" altLang="en-US" sz="2000" dirty="0">
              <a:cs typeface="+mn-cs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Times New Roman" pitchFamily="18" charset="0"/>
              </a:rPr>
              <a:t>A relation is in BCNF if and only if every determinant is a candidate key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cs typeface="Times New Roman" pitchFamily="18" charset="0"/>
              </a:rPr>
              <a:t>Example:</a:t>
            </a:r>
          </a:p>
          <a:p>
            <a:pPr eaLnBrk="0" hangingPunct="0"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20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0985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76962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 smtClean="0"/>
              <a:t>Boyce-</a:t>
            </a:r>
            <a:r>
              <a:rPr lang="en-US" altLang="en-US" sz="3600" b="1" dirty="0" err="1" smtClean="0"/>
              <a:t>Codd</a:t>
            </a:r>
            <a:r>
              <a:rPr lang="en-US" altLang="en-US" sz="3600" b="1" dirty="0" smtClean="0"/>
              <a:t> </a:t>
            </a:r>
            <a:r>
              <a:rPr lang="en-US" altLang="en-US" sz="3600" b="1" dirty="0"/>
              <a:t>Normal Form (BCNF) 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381000" y="1143000"/>
            <a:ext cx="79248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734312"/>
            <a:ext cx="82296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cs typeface="Times New Roman" pitchFamily="18" charset="0"/>
              </a:rPr>
              <a:t>Example</a:t>
            </a:r>
            <a:r>
              <a:rPr lang="en-US" sz="2000" dirty="0">
                <a:cs typeface="Times New Roman" pitchFamily="18" charset="0"/>
              </a:rPr>
              <a:t>:</a:t>
            </a:r>
          </a:p>
          <a:p>
            <a:pPr eaLnBrk="0" hangingPunct="0"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2000" dirty="0"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438400"/>
            <a:ext cx="5579257" cy="337661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BE36-A0FF-496F-A59E-A2BBDA749AD6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133600"/>
            <a:ext cx="5513567" cy="379095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143000"/>
            <a:ext cx="7696200" cy="591312"/>
          </a:xfrm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 smtClean="0"/>
              <a:t>Boyce-</a:t>
            </a:r>
            <a:r>
              <a:rPr lang="en-US" altLang="en-US" sz="3600" b="1" dirty="0" err="1" smtClean="0"/>
              <a:t>Codd</a:t>
            </a:r>
            <a:r>
              <a:rPr lang="en-US" altLang="en-US" sz="3600" b="1" dirty="0" smtClean="0"/>
              <a:t> </a:t>
            </a:r>
            <a:r>
              <a:rPr lang="en-US" altLang="en-US" sz="3600" b="1" dirty="0"/>
              <a:t>Normal Form (BCNF) </a:t>
            </a:r>
          </a:p>
        </p:txBody>
      </p:sp>
    </p:spTree>
    <p:extLst>
      <p:ext uri="{BB962C8B-B14F-4D97-AF65-F5344CB8AC3E}">
        <p14:creationId xmlns:p14="http://schemas.microsoft.com/office/powerpoint/2010/main" val="758673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305800" cy="704088"/>
          </a:xfrm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Normalization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1371600" y="2057400"/>
            <a:ext cx="7086600" cy="3748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A process of decomposing a table into many tables.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A process to increase table’s normal form.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A process to reduce redundancy.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en-US" altLang="en-US" sz="24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anose="02020603050405020304" pitchFamily="18" charset="0"/>
              </a:rPr>
              <a:t>The higher the normal form is, 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anose="02020603050405020304" pitchFamily="18" charset="0"/>
              </a:rPr>
              <a:t>the lower the redundancy.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Practical Use of Normal Forms</a:t>
            </a: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8382000" cy="4191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sz="2800" smtClean="0"/>
              <a:t>Normalization is carried out in practice so that the resulting designs are of high quality and meet the desirable properties</a:t>
            </a:r>
          </a:p>
          <a:p>
            <a:pPr eaLnBrk="1" hangingPunct="1"/>
            <a:r>
              <a:rPr lang="en-US" altLang="en-US" sz="2800" smtClean="0"/>
              <a:t>The practical utility of these normal forms becomes questionable when the constraints on which they are based are hard to understand or to detect</a:t>
            </a:r>
            <a:endParaRPr lang="en-US" altLang="en-US" smtClean="0"/>
          </a:p>
          <a:p>
            <a:pPr eaLnBrk="1" hangingPunct="1"/>
            <a:r>
              <a:rPr lang="en-US" altLang="en-US" sz="2800" smtClean="0"/>
              <a:t>The database designers need not normalize to the highest possible normal form (usually up to 3NF, BCNF or 4NF)</a:t>
            </a:r>
            <a:endParaRPr lang="en-US" altLang="en-US" smtClean="0">
              <a:sym typeface="Wingdings" panose="05000000000000000000" pitchFamily="2" charset="2"/>
            </a:endParaRPr>
          </a:p>
          <a:p>
            <a:pPr lvl="1"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FA570DE-0A7A-4F10-8A25-8D909CDCDC4C}" type="slidenum">
              <a:rPr lang="en-US" altLang="en-US">
                <a:solidFill>
                  <a:srgbClr val="045C75"/>
                </a:solidFill>
              </a:rPr>
              <a:pPr eaLnBrk="1" hangingPunct="1"/>
              <a:t>45</a:t>
            </a:fld>
            <a:endParaRPr lang="en-US" altLang="en-US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22337</TotalTime>
  <Words>2600</Words>
  <Application>Microsoft Office PowerPoint</Application>
  <PresentationFormat>On-screen Show (4:3)</PresentationFormat>
  <Paragraphs>654</Paragraphs>
  <Slides>45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Monotype Sorts</vt:lpstr>
      <vt:lpstr>Arial</vt:lpstr>
      <vt:lpstr>Calibri</vt:lpstr>
      <vt:lpstr>Constantia</vt:lpstr>
      <vt:lpstr>Courier New</vt:lpstr>
      <vt:lpstr>Tahoma</vt:lpstr>
      <vt:lpstr>Times New Roman</vt:lpstr>
      <vt:lpstr>Wingdings</vt:lpstr>
      <vt:lpstr>Wingdings 2</vt:lpstr>
      <vt:lpstr>Flow</vt:lpstr>
      <vt:lpstr> The Relational Model:   Functional Dependencies and  Normalization</vt:lpstr>
      <vt:lpstr>Learning Objectives  </vt:lpstr>
      <vt:lpstr>Where does Normalization fit?</vt:lpstr>
      <vt:lpstr>“Good Design”: What is it?</vt:lpstr>
      <vt:lpstr>Redundancy</vt:lpstr>
      <vt:lpstr>Example</vt:lpstr>
      <vt:lpstr>Example</vt:lpstr>
      <vt:lpstr>Inconsistency: Anomalies</vt:lpstr>
      <vt:lpstr>Insertion Anomaly</vt:lpstr>
      <vt:lpstr>Deletion Anomaly</vt:lpstr>
      <vt:lpstr>Modification Anomaly</vt:lpstr>
      <vt:lpstr>How to Avoid Anomaly?</vt:lpstr>
      <vt:lpstr>How to Avoid Anomaly? (cont.)</vt:lpstr>
      <vt:lpstr>Anomalies: Summary</vt:lpstr>
      <vt:lpstr>Semantics of the Relation Attributes – Guideline 1</vt:lpstr>
      <vt:lpstr>Semantics of the Relation Attributes – Guidelines 2 and 3</vt:lpstr>
      <vt:lpstr>Functional Dependency (FD)</vt:lpstr>
      <vt:lpstr>Functional Dependency (FD)</vt:lpstr>
      <vt:lpstr>Functional Dependency (FD)</vt:lpstr>
      <vt:lpstr>Example</vt:lpstr>
      <vt:lpstr>Example</vt:lpstr>
      <vt:lpstr>Another Example</vt:lpstr>
      <vt:lpstr>More About Functional Dependency</vt:lpstr>
      <vt:lpstr>Trivial Functional Dependency</vt:lpstr>
      <vt:lpstr>Armstrong’s Axioms</vt:lpstr>
      <vt:lpstr>Armstrong’s Axioms (cont.)</vt:lpstr>
      <vt:lpstr>Armstrong’s Axioms (cont.)</vt:lpstr>
      <vt:lpstr>Normalization of Relations</vt:lpstr>
      <vt:lpstr>Normalization of Relations</vt:lpstr>
      <vt:lpstr>Normal Forms</vt:lpstr>
      <vt:lpstr>INVOICE Table in 0NF</vt:lpstr>
      <vt:lpstr>INVOICE Table in 1NF</vt:lpstr>
      <vt:lpstr>0NF to 1NF – examples</vt:lpstr>
      <vt:lpstr>Normal Forms</vt:lpstr>
      <vt:lpstr>1NF to 2NF</vt:lpstr>
      <vt:lpstr>1NF to 2NF - examples</vt:lpstr>
      <vt:lpstr>Normal Forms</vt:lpstr>
      <vt:lpstr>2NF to 3NF</vt:lpstr>
      <vt:lpstr>1NF to 2NF - examples</vt:lpstr>
      <vt:lpstr>2NF to 3NF</vt:lpstr>
      <vt:lpstr>Boyce-Codd Normal Form (BCNF) </vt:lpstr>
      <vt:lpstr>Boyce-Codd Normal Form (BCNF) </vt:lpstr>
      <vt:lpstr>Boyce-Codd Normal Form (BCNF) </vt:lpstr>
      <vt:lpstr>Normalization</vt:lpstr>
      <vt:lpstr>Practical Use of Normal Forms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Relational Model:  Normalization</dc:title>
  <dc:creator>Bo Hatfield</dc:creator>
  <cp:lastModifiedBy>Bo Hatfield</cp:lastModifiedBy>
  <cp:revision>188</cp:revision>
  <cp:lastPrinted>1601-01-01T00:00:00Z</cp:lastPrinted>
  <dcterms:created xsi:type="dcterms:W3CDTF">2001-12-22T15:36:47Z</dcterms:created>
  <dcterms:modified xsi:type="dcterms:W3CDTF">2017-04-07T17:06:07Z</dcterms:modified>
</cp:coreProperties>
</file>